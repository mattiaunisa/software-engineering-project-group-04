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7"/>
  </p:notesMasterIdLst>
  <p:sldIdLst>
    <p:sldId id="256" r:id="rId2"/>
    <p:sldId id="296" r:id="rId3"/>
    <p:sldId id="297" r:id="rId4"/>
    <p:sldId id="269" r:id="rId5"/>
    <p:sldId id="298" r:id="rId6"/>
  </p:sldIdLst>
  <p:sldSz cx="9144000" cy="5143500" type="screen16x9"/>
  <p:notesSz cx="6858000" cy="9144000"/>
  <p:embeddedFontLst>
    <p:embeddedFont>
      <p:font typeface="Barlow" panose="00000500000000000000" pitchFamily="2" charset="0"/>
      <p:regular r:id="rId8"/>
      <p:bold r:id="rId9"/>
      <p:italic r:id="rId10"/>
      <p:boldItalic r:id="rId11"/>
    </p:embeddedFont>
    <p:embeddedFont>
      <p:font typeface="Outfit" panose="020B0604020202020204" charset="0"/>
      <p:regular r:id="rId12"/>
      <p:bold r:id="rId13"/>
    </p:embeddedFont>
    <p:embeddedFont>
      <p:font typeface="Raleway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EAB561-08F5-4D16-9630-0750F2F6AF40}">
  <a:tblStyle styleId="{06EAB561-08F5-4D16-9630-0750F2F6AF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A14C27-C682-40E8-895F-49E0BDBB13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61279" y="-3665634"/>
            <a:ext cx="12368023" cy="9056236"/>
            <a:chOff x="-1961279" y="-3665634"/>
            <a:chExt cx="12368023" cy="9056236"/>
          </a:xfrm>
        </p:grpSpPr>
        <p:sp>
          <p:nvSpPr>
            <p:cNvPr id="10" name="Google Shape;10;p2"/>
            <p:cNvSpPr/>
            <p:nvPr/>
          </p:nvSpPr>
          <p:spPr>
            <a:xfrm>
              <a:off x="7865187" y="3256327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132792" y="1106388"/>
              <a:ext cx="3027155" cy="428421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066218" y="1028066"/>
              <a:ext cx="3031071" cy="4299878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>
              <a:off x="-1350581" y="1955801"/>
              <a:ext cx="1683928" cy="2349660"/>
              <a:chOff x="-1107581" y="1955801"/>
              <a:chExt cx="1683928" cy="23496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018798" y="-3665634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1350568" y="-1025151"/>
            <a:ext cx="12446464" cy="6788166"/>
            <a:chOff x="-1350568" y="-1025151"/>
            <a:chExt cx="12446464" cy="6788166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-1350568" y="4145665"/>
              <a:ext cx="4429121" cy="1617349"/>
              <a:chOff x="9431732" y="3526140"/>
              <a:chExt cx="4429121" cy="1617349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1179442" y="-1025151"/>
              <a:ext cx="2901838" cy="1613433"/>
              <a:chOff x="11828392" y="-448701"/>
              <a:chExt cx="2901838" cy="1613433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" name="Google Shape;78;p2"/>
            <p:cNvGrpSpPr/>
            <p:nvPr/>
          </p:nvGrpSpPr>
          <p:grpSpPr>
            <a:xfrm>
              <a:off x="8186226" y="3667518"/>
              <a:ext cx="2909670" cy="1609517"/>
              <a:chOff x="16053876" y="2645018"/>
              <a:chExt cx="2909670" cy="1609517"/>
            </a:xfrm>
          </p:grpSpPr>
          <p:sp>
            <p:nvSpPr>
              <p:cNvPr id="79" name="Google Shape;79;p2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" name="Google Shape;91;p2"/>
          <p:cNvSpPr txBox="1">
            <a:spLocks noGrp="1"/>
          </p:cNvSpPr>
          <p:nvPr>
            <p:ph type="ctrTitle"/>
          </p:nvPr>
        </p:nvSpPr>
        <p:spPr>
          <a:xfrm>
            <a:off x="715165" y="1483025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subTitle" idx="1"/>
          </p:nvPr>
        </p:nvSpPr>
        <p:spPr>
          <a:xfrm>
            <a:off x="715100" y="3170300"/>
            <a:ext cx="4921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"/>
          <p:cNvSpPr>
            <a:spLocks noGrp="1"/>
          </p:cNvSpPr>
          <p:nvPr>
            <p:ph type="pic" idx="2"/>
          </p:nvPr>
        </p:nvSpPr>
        <p:spPr>
          <a:xfrm>
            <a:off x="5830687" y="528651"/>
            <a:ext cx="3064200" cy="4080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6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309" name="Google Shape;309;p6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322" name="Google Shape;322;p6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323" name="Google Shape;323;p6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6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5" name="Google Shape;325;p6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6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8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02" name="Google Shape;402;p8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8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8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8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8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8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8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8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8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447" name="Google Shape;447;p8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8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8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8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8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8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9" name="Google Shape;459;p8"/>
          <p:cNvGrpSpPr/>
          <p:nvPr/>
        </p:nvGrpSpPr>
        <p:grpSpPr>
          <a:xfrm>
            <a:off x="-1822531" y="-284152"/>
            <a:ext cx="12743129" cy="5333629"/>
            <a:chOff x="-1822531" y="-284152"/>
            <a:chExt cx="12743129" cy="5333629"/>
          </a:xfrm>
        </p:grpSpPr>
        <p:sp>
          <p:nvSpPr>
            <p:cNvPr id="460" name="Google Shape;460;p8"/>
            <p:cNvSpPr/>
            <p:nvPr/>
          </p:nvSpPr>
          <p:spPr>
            <a:xfrm>
              <a:off x="8607494" y="-284152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-1822529" y="-13175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8607730" y="351738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8479769" y="146147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8428898" y="14016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1822531" y="93492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9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69" name="Google Shape;469;p9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70" name="Google Shape;470;p9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9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9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9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9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9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9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9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9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9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9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9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9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9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9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9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9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9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9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9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9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" name="Google Shape;514;p9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515" name="Google Shape;515;p9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9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9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9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7" name="Google Shape;527;p9"/>
          <p:cNvGrpSpPr/>
          <p:nvPr/>
        </p:nvGrpSpPr>
        <p:grpSpPr>
          <a:xfrm rot="10800000">
            <a:off x="-1845654" y="-2850054"/>
            <a:ext cx="12179898" cy="10865307"/>
            <a:chOff x="-1961279" y="-2850054"/>
            <a:chExt cx="12179898" cy="10865307"/>
          </a:xfrm>
        </p:grpSpPr>
        <p:sp>
          <p:nvSpPr>
            <p:cNvPr id="528" name="Google Shape;528;p9"/>
            <p:cNvSpPr/>
            <p:nvPr/>
          </p:nvSpPr>
          <p:spPr>
            <a:xfrm>
              <a:off x="7677062" y="150435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9" name="Google Shape;529;p9"/>
            <p:cNvGrpSpPr/>
            <p:nvPr/>
          </p:nvGrpSpPr>
          <p:grpSpPr>
            <a:xfrm>
              <a:off x="5815905" y="-1398759"/>
              <a:ext cx="3093729" cy="4362535"/>
              <a:chOff x="5815905" y="-1398759"/>
              <a:chExt cx="3093729" cy="4362535"/>
            </a:xfrm>
          </p:grpSpPr>
          <p:sp>
            <p:nvSpPr>
              <p:cNvPr id="530" name="Google Shape;530;p9"/>
              <p:cNvSpPr/>
              <p:nvPr/>
            </p:nvSpPr>
            <p:spPr>
              <a:xfrm>
                <a:off x="5882479" y="-13204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5815905" y="-13987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2" name="Google Shape;532;p9"/>
            <p:cNvSpPr/>
            <p:nvPr/>
          </p:nvSpPr>
          <p:spPr>
            <a:xfrm>
              <a:off x="5830673" y="2144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13"/>
          <p:cNvGrpSpPr/>
          <p:nvPr/>
        </p:nvGrpSpPr>
        <p:grpSpPr>
          <a:xfrm>
            <a:off x="-1817629" y="-2162227"/>
            <a:ext cx="12738451" cy="5687513"/>
            <a:chOff x="-1817629" y="-2162227"/>
            <a:chExt cx="12738451" cy="5687513"/>
          </a:xfrm>
        </p:grpSpPr>
        <p:sp>
          <p:nvSpPr>
            <p:cNvPr id="612" name="Google Shape;612;p13"/>
            <p:cNvSpPr/>
            <p:nvPr/>
          </p:nvSpPr>
          <p:spPr>
            <a:xfrm>
              <a:off x="8607730" y="141743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8479769" y="-49597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8428898" y="-5558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8607719" y="-216222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6" name="Google Shape;616;p13"/>
            <p:cNvGrpSpPr/>
            <p:nvPr/>
          </p:nvGrpSpPr>
          <p:grpSpPr>
            <a:xfrm rot="10800000">
              <a:off x="-1206931" y="1175626"/>
              <a:ext cx="1683928" cy="2349660"/>
              <a:chOff x="-1107581" y="1955801"/>
              <a:chExt cx="1683928" cy="2349660"/>
            </a:xfrm>
          </p:grpSpPr>
          <p:sp>
            <p:nvSpPr>
              <p:cNvPr id="617" name="Google Shape;617;p13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9" name="Google Shape;619;p13"/>
            <p:cNvSpPr/>
            <p:nvPr/>
          </p:nvSpPr>
          <p:spPr>
            <a:xfrm>
              <a:off x="-1817629" y="-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13"/>
          <p:cNvGrpSpPr/>
          <p:nvPr/>
        </p:nvGrpSpPr>
        <p:grpSpPr>
          <a:xfrm>
            <a:off x="-1350568" y="1798780"/>
            <a:ext cx="12241098" cy="4427059"/>
            <a:chOff x="-1350568" y="1798780"/>
            <a:chExt cx="12241098" cy="4427059"/>
          </a:xfrm>
        </p:grpSpPr>
        <p:grpSp>
          <p:nvGrpSpPr>
            <p:cNvPr id="621" name="Google Shape;621;p13"/>
            <p:cNvGrpSpPr/>
            <p:nvPr/>
          </p:nvGrpSpPr>
          <p:grpSpPr>
            <a:xfrm>
              <a:off x="8667251" y="1798780"/>
              <a:ext cx="2223279" cy="1229832"/>
              <a:chOff x="16053876" y="2645018"/>
              <a:chExt cx="2909670" cy="1609517"/>
            </a:xfrm>
          </p:grpSpPr>
          <p:sp>
            <p:nvSpPr>
              <p:cNvPr id="622" name="Google Shape;622;p13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3"/>
            <p:cNvGrpSpPr/>
            <p:nvPr/>
          </p:nvGrpSpPr>
          <p:grpSpPr>
            <a:xfrm>
              <a:off x="-1350568" y="4608490"/>
              <a:ext cx="4429121" cy="1617349"/>
              <a:chOff x="9431732" y="3526140"/>
              <a:chExt cx="4429121" cy="1617349"/>
            </a:xfrm>
          </p:grpSpPr>
          <p:sp>
            <p:nvSpPr>
              <p:cNvPr id="635" name="Google Shape;635;p13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title" idx="2" hasCustomPrompt="1"/>
          </p:nvPr>
        </p:nvSpPr>
        <p:spPr>
          <a:xfrm>
            <a:off x="1087963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1" name="Google Shape;681;p13"/>
          <p:cNvSpPr txBox="1">
            <a:spLocks noGrp="1"/>
          </p:cNvSpPr>
          <p:nvPr>
            <p:ph type="title" idx="3" hasCustomPrompt="1"/>
          </p:nvPr>
        </p:nvSpPr>
        <p:spPr>
          <a:xfrm>
            <a:off x="1087963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2" name="Google Shape;682;p13"/>
          <p:cNvSpPr txBox="1">
            <a:spLocks noGrp="1"/>
          </p:cNvSpPr>
          <p:nvPr>
            <p:ph type="title" idx="4" hasCustomPrompt="1"/>
          </p:nvPr>
        </p:nvSpPr>
        <p:spPr>
          <a:xfrm>
            <a:off x="3684819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3" name="Google Shape;683;p13"/>
          <p:cNvSpPr txBox="1">
            <a:spLocks noGrp="1"/>
          </p:cNvSpPr>
          <p:nvPr>
            <p:ph type="title" idx="5" hasCustomPrompt="1"/>
          </p:nvPr>
        </p:nvSpPr>
        <p:spPr>
          <a:xfrm>
            <a:off x="3684819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4" name="Google Shape;684;p13"/>
          <p:cNvSpPr txBox="1">
            <a:spLocks noGrp="1"/>
          </p:cNvSpPr>
          <p:nvPr>
            <p:ph type="title" idx="6" hasCustomPrompt="1"/>
          </p:nvPr>
        </p:nvSpPr>
        <p:spPr>
          <a:xfrm>
            <a:off x="6296146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5" name="Google Shape;685;p13"/>
          <p:cNvSpPr txBox="1">
            <a:spLocks noGrp="1"/>
          </p:cNvSpPr>
          <p:nvPr>
            <p:ph type="title" idx="7" hasCustomPrompt="1"/>
          </p:nvPr>
        </p:nvSpPr>
        <p:spPr>
          <a:xfrm>
            <a:off x="6296146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6" name="Google Shape;686;p13"/>
          <p:cNvSpPr txBox="1">
            <a:spLocks noGrp="1"/>
          </p:cNvSpPr>
          <p:nvPr>
            <p:ph type="subTitle" idx="1"/>
          </p:nvPr>
        </p:nvSpPr>
        <p:spPr>
          <a:xfrm>
            <a:off x="993213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7" name="Google Shape;687;p13"/>
          <p:cNvSpPr txBox="1">
            <a:spLocks noGrp="1"/>
          </p:cNvSpPr>
          <p:nvPr>
            <p:ph type="subTitle" idx="8"/>
          </p:nvPr>
        </p:nvSpPr>
        <p:spPr>
          <a:xfrm>
            <a:off x="3590069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8" name="Google Shape;688;p13"/>
          <p:cNvSpPr txBox="1">
            <a:spLocks noGrp="1"/>
          </p:cNvSpPr>
          <p:nvPr>
            <p:ph type="subTitle" idx="9"/>
          </p:nvPr>
        </p:nvSpPr>
        <p:spPr>
          <a:xfrm>
            <a:off x="6201396" y="209876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9" name="Google Shape;689;p13"/>
          <p:cNvSpPr txBox="1">
            <a:spLocks noGrp="1"/>
          </p:cNvSpPr>
          <p:nvPr>
            <p:ph type="subTitle" idx="13"/>
          </p:nvPr>
        </p:nvSpPr>
        <p:spPr>
          <a:xfrm>
            <a:off x="993213" y="353224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0" name="Google Shape;690;p13"/>
          <p:cNvSpPr txBox="1">
            <a:spLocks noGrp="1"/>
          </p:cNvSpPr>
          <p:nvPr>
            <p:ph type="subTitle" idx="14"/>
          </p:nvPr>
        </p:nvSpPr>
        <p:spPr>
          <a:xfrm>
            <a:off x="3590069" y="3532248"/>
            <a:ext cx="1946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1" name="Google Shape;691;p13"/>
          <p:cNvSpPr txBox="1">
            <a:spLocks noGrp="1"/>
          </p:cNvSpPr>
          <p:nvPr>
            <p:ph type="subTitle" idx="15"/>
          </p:nvPr>
        </p:nvSpPr>
        <p:spPr>
          <a:xfrm>
            <a:off x="6201396" y="353224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Google Shape;1189;p22"/>
          <p:cNvGrpSpPr/>
          <p:nvPr/>
        </p:nvGrpSpPr>
        <p:grpSpPr>
          <a:xfrm>
            <a:off x="-1696452" y="-2157534"/>
            <a:ext cx="12663109" cy="9410787"/>
            <a:chOff x="-1696452" y="-2157534"/>
            <a:chExt cx="12663109" cy="9410787"/>
          </a:xfrm>
        </p:grpSpPr>
        <p:sp>
          <p:nvSpPr>
            <p:cNvPr id="1190" name="Google Shape;1190;p22"/>
            <p:cNvSpPr/>
            <p:nvPr/>
          </p:nvSpPr>
          <p:spPr>
            <a:xfrm>
              <a:off x="-1088313" y="169540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1" name="Google Shape;1191;p22"/>
            <p:cNvGrpSpPr/>
            <p:nvPr/>
          </p:nvGrpSpPr>
          <p:grpSpPr>
            <a:xfrm>
              <a:off x="-649032" y="-2157534"/>
              <a:ext cx="3093729" cy="4362535"/>
              <a:chOff x="-649032" y="-2157534"/>
              <a:chExt cx="3093729" cy="4362535"/>
            </a:xfrm>
          </p:grpSpPr>
          <p:sp>
            <p:nvSpPr>
              <p:cNvPr id="1192" name="Google Shape;1192;p22"/>
              <p:cNvSpPr/>
              <p:nvPr/>
            </p:nvSpPr>
            <p:spPr>
              <a:xfrm>
                <a:off x="-582458" y="-2079212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-649032" y="-2157534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4" name="Google Shape;1194;p22"/>
            <p:cNvSpPr/>
            <p:nvPr/>
          </p:nvSpPr>
          <p:spPr>
            <a:xfrm>
              <a:off x="-1696452" y="1382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8119046" y="266612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7939503" y="230721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7" name="Google Shape;1197;p22"/>
            <p:cNvGrpSpPr/>
            <p:nvPr/>
          </p:nvGrpSpPr>
          <p:grpSpPr>
            <a:xfrm>
              <a:off x="8164894" y="-207299"/>
              <a:ext cx="1683928" cy="2349660"/>
              <a:chOff x="-1107581" y="1955801"/>
              <a:chExt cx="1683928" cy="2349660"/>
            </a:xfrm>
          </p:grpSpPr>
          <p:sp>
            <p:nvSpPr>
              <p:cNvPr id="1198" name="Google Shape;1198;p2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22"/>
          <p:cNvGrpSpPr/>
          <p:nvPr/>
        </p:nvGrpSpPr>
        <p:grpSpPr>
          <a:xfrm>
            <a:off x="1048105" y="-1082360"/>
            <a:ext cx="8221699" cy="7304442"/>
            <a:chOff x="1048105" y="-1082360"/>
            <a:chExt cx="8221699" cy="7304442"/>
          </a:xfrm>
        </p:grpSpPr>
        <p:grpSp>
          <p:nvGrpSpPr>
            <p:cNvPr id="1201" name="Google Shape;1201;p22"/>
            <p:cNvGrpSpPr/>
            <p:nvPr/>
          </p:nvGrpSpPr>
          <p:grpSpPr>
            <a:xfrm>
              <a:off x="4840682" y="-1082360"/>
              <a:ext cx="4429121" cy="1617349"/>
              <a:chOff x="9431732" y="3526140"/>
              <a:chExt cx="4429121" cy="1617349"/>
            </a:xfrm>
          </p:grpSpPr>
          <p:sp>
            <p:nvSpPr>
              <p:cNvPr id="1202" name="Google Shape;1202;p2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2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2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2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2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2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2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2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2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2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2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2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2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2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2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2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2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2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2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2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2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2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2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6" name="Google Shape;1246;p22"/>
            <p:cNvGrpSpPr/>
            <p:nvPr/>
          </p:nvGrpSpPr>
          <p:grpSpPr>
            <a:xfrm>
              <a:off x="1048105" y="4608649"/>
              <a:ext cx="2901838" cy="1613433"/>
              <a:chOff x="11828392" y="-448701"/>
              <a:chExt cx="2901838" cy="1613433"/>
            </a:xfrm>
          </p:grpSpPr>
          <p:sp>
            <p:nvSpPr>
              <p:cNvPr id="1247" name="Google Shape;1247;p2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2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2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2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2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2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2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0" name="Google Shape;1260;p23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1261" name="Google Shape;1261;p23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3" name="Google Shape;1273;p23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1274" name="Google Shape;1274;p23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1275" name="Google Shape;1275;p23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7" name="Google Shape;1277;p23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23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9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7"/>
          <p:cNvSpPr txBox="1">
            <a:spLocks noGrp="1"/>
          </p:cNvSpPr>
          <p:nvPr>
            <p:ph type="ctrTitle"/>
          </p:nvPr>
        </p:nvSpPr>
        <p:spPr>
          <a:xfrm>
            <a:off x="715100" y="1483087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 err="1"/>
              <a:t>Pre</a:t>
            </a:r>
            <a:r>
              <a:rPr lang="it-IT" sz="3600" dirty="0"/>
              <a:t>-Game </a:t>
            </a:r>
            <a:r>
              <a:rPr lang="it-IT" sz="3600" dirty="0" err="1"/>
              <a:t>presentation</a:t>
            </a:r>
            <a:br>
              <a:rPr lang="it-IT" sz="3600" dirty="0"/>
            </a:br>
            <a:r>
              <a:rPr lang="it-IT" sz="3600" dirty="0"/>
              <a:t>Group n. 05</a:t>
            </a:r>
            <a:endParaRPr sz="3600" dirty="0"/>
          </a:p>
        </p:txBody>
      </p:sp>
      <p:grpSp>
        <p:nvGrpSpPr>
          <p:cNvPr id="1292" name="Google Shape;1292;p27"/>
          <p:cNvGrpSpPr/>
          <p:nvPr/>
        </p:nvGrpSpPr>
        <p:grpSpPr>
          <a:xfrm>
            <a:off x="832425" y="3579813"/>
            <a:ext cx="4500600" cy="74450"/>
            <a:chOff x="832425" y="3620150"/>
            <a:chExt cx="4500600" cy="74450"/>
          </a:xfrm>
        </p:grpSpPr>
        <p:cxnSp>
          <p:nvCxnSpPr>
            <p:cNvPr id="1293" name="Google Shape;1293;p27"/>
            <p:cNvCxnSpPr/>
            <p:nvPr/>
          </p:nvCxnSpPr>
          <p:spPr>
            <a:xfrm>
              <a:off x="832425" y="362015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4" name="Google Shape;1294;p27"/>
            <p:cNvCxnSpPr/>
            <p:nvPr/>
          </p:nvCxnSpPr>
          <p:spPr>
            <a:xfrm>
              <a:off x="832425" y="369460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EF07EB-CD19-6B0F-932E-47CC6869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Architecture</a:t>
            </a:r>
          </a:p>
        </p:txBody>
      </p:sp>
      <p:sp>
        <p:nvSpPr>
          <p:cNvPr id="15" name="Google Shape;247;p16">
            <a:extLst>
              <a:ext uri="{FF2B5EF4-FFF2-40B4-BE49-F238E27FC236}">
                <a16:creationId xmlns:a16="http://schemas.microsoft.com/office/drawing/2014/main" id="{2C4DE6D7-743A-46B3-7F37-5FE804D34CB3}"/>
              </a:ext>
            </a:extLst>
          </p:cNvPr>
          <p:cNvSpPr txBox="1"/>
          <p:nvPr/>
        </p:nvSpPr>
        <p:spPr>
          <a:xfrm>
            <a:off x="614472" y="2352736"/>
            <a:ext cx="2071477" cy="10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algn="ctr"/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MVC pattern</a:t>
            </a:r>
            <a:endParaRPr sz="1600" b="1" dirty="0">
              <a:solidFill>
                <a:schemeClr val="lt2"/>
              </a:solidFill>
              <a:latin typeface="Outfit"/>
              <a:sym typeface="Calibri"/>
            </a:endParaRPr>
          </a:p>
        </p:txBody>
      </p:sp>
      <p:sp>
        <p:nvSpPr>
          <p:cNvPr id="16" name="Google Shape;247;p16">
            <a:extLst>
              <a:ext uri="{FF2B5EF4-FFF2-40B4-BE49-F238E27FC236}">
                <a16:creationId xmlns:a16="http://schemas.microsoft.com/office/drawing/2014/main" id="{EE814329-3845-9735-756A-33CFB49CEEB0}"/>
              </a:ext>
            </a:extLst>
          </p:cNvPr>
          <p:cNvSpPr txBox="1"/>
          <p:nvPr/>
        </p:nvSpPr>
        <p:spPr>
          <a:xfrm>
            <a:off x="2554380" y="2352736"/>
            <a:ext cx="2071477" cy="10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algn="ctr"/>
            <a:r>
              <a:rPr lang="it-IT" sz="1600" b="1" dirty="0" err="1">
                <a:solidFill>
                  <a:schemeClr val="lt2"/>
                </a:solidFill>
                <a:latin typeface="Outfit"/>
                <a:sym typeface="Calibri"/>
              </a:rPr>
              <a:t>Creational</a:t>
            </a:r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 </a:t>
            </a:r>
          </a:p>
          <a:p>
            <a:pPr algn="ctr"/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Patterns</a:t>
            </a:r>
          </a:p>
          <a:p>
            <a:pPr algn="ctr"/>
            <a:r>
              <a:rPr lang="it-IT" sz="1200" b="1" dirty="0" err="1">
                <a:solidFill>
                  <a:schemeClr val="dk1"/>
                </a:solidFill>
                <a:latin typeface="Outfit"/>
                <a:sym typeface="Calibri"/>
              </a:rPr>
              <a:t>Factory</a:t>
            </a:r>
            <a:r>
              <a:rPr lang="it-IT" sz="1200" b="1" dirty="0">
                <a:solidFill>
                  <a:schemeClr val="dk1"/>
                </a:solidFill>
                <a:latin typeface="Outfit"/>
                <a:sym typeface="Calibri"/>
              </a:rPr>
              <a:t> Method</a:t>
            </a:r>
          </a:p>
          <a:p>
            <a:pPr algn="ctr"/>
            <a:r>
              <a:rPr lang="it-IT" sz="1200" b="1" dirty="0">
                <a:solidFill>
                  <a:schemeClr val="dk1"/>
                </a:solidFill>
                <a:latin typeface="Outfit"/>
                <a:sym typeface="Calibri"/>
              </a:rPr>
              <a:t>Singleton</a:t>
            </a:r>
            <a:endParaRPr sz="1200" b="1" dirty="0">
              <a:solidFill>
                <a:schemeClr val="dk1"/>
              </a:solidFill>
              <a:latin typeface="Outfit"/>
              <a:sym typeface="Calibri"/>
            </a:endParaRPr>
          </a:p>
        </p:txBody>
      </p:sp>
      <p:sp>
        <p:nvSpPr>
          <p:cNvPr id="17" name="Google Shape;247;p16">
            <a:extLst>
              <a:ext uri="{FF2B5EF4-FFF2-40B4-BE49-F238E27FC236}">
                <a16:creationId xmlns:a16="http://schemas.microsoft.com/office/drawing/2014/main" id="{6639E93D-3DE2-642F-CD82-CEF27D532E6B}"/>
              </a:ext>
            </a:extLst>
          </p:cNvPr>
          <p:cNvSpPr txBox="1"/>
          <p:nvPr/>
        </p:nvSpPr>
        <p:spPr>
          <a:xfrm>
            <a:off x="4494288" y="2352736"/>
            <a:ext cx="1858235" cy="10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100">
                <a:solidFill>
                  <a:srgbClr val="FFFFFF"/>
                </a:solidFill>
                <a:latin typeface="Aptos" panose="020B0004020202020204" pitchFamily="34" charset="0"/>
                <a:ea typeface="Inter"/>
              </a:defRPr>
            </a:lvl1pPr>
          </a:lstStyle>
          <a:p>
            <a:r>
              <a:rPr lang="it-IT" sz="1600" b="1" dirty="0" err="1">
                <a:solidFill>
                  <a:schemeClr val="lt2"/>
                </a:solidFill>
                <a:latin typeface="Outfit"/>
                <a:sym typeface="Calibri"/>
              </a:rPr>
              <a:t>Structural</a:t>
            </a:r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 Patterns</a:t>
            </a:r>
          </a:p>
          <a:p>
            <a:r>
              <a:rPr lang="it-IT" sz="1200" b="1" dirty="0">
                <a:solidFill>
                  <a:schemeClr val="dk1"/>
                </a:solidFill>
                <a:latin typeface="Outfit"/>
                <a:sym typeface="Calibri"/>
              </a:rPr>
              <a:t>Composite</a:t>
            </a:r>
          </a:p>
          <a:p>
            <a:r>
              <a:rPr lang="it-IT" sz="1200" b="1" dirty="0" err="1">
                <a:solidFill>
                  <a:schemeClr val="dk1"/>
                </a:solidFill>
                <a:latin typeface="Outfit"/>
                <a:sym typeface="Calibri"/>
              </a:rPr>
              <a:t>Facade</a:t>
            </a:r>
            <a:endParaRPr sz="1200" b="1" dirty="0">
              <a:solidFill>
                <a:schemeClr val="dk1"/>
              </a:solidFill>
              <a:latin typeface="Outfit"/>
              <a:sym typeface="Calibri"/>
            </a:endParaRPr>
          </a:p>
        </p:txBody>
      </p:sp>
      <p:sp>
        <p:nvSpPr>
          <p:cNvPr id="18" name="Google Shape;247;p16">
            <a:extLst>
              <a:ext uri="{FF2B5EF4-FFF2-40B4-BE49-F238E27FC236}">
                <a16:creationId xmlns:a16="http://schemas.microsoft.com/office/drawing/2014/main" id="{F46B8C59-A2EC-F3F0-4309-1570574F57AF}"/>
              </a:ext>
            </a:extLst>
          </p:cNvPr>
          <p:cNvSpPr txBox="1"/>
          <p:nvPr/>
        </p:nvSpPr>
        <p:spPr>
          <a:xfrm>
            <a:off x="6565765" y="2183130"/>
            <a:ext cx="1858235" cy="125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algn="ctr"/>
            <a:r>
              <a:rPr lang="it-IT" sz="1600" b="1" dirty="0" err="1">
                <a:solidFill>
                  <a:schemeClr val="lt2"/>
                </a:solidFill>
                <a:latin typeface="Outfit"/>
                <a:ea typeface="Inter"/>
                <a:sym typeface="Calibri"/>
              </a:rPr>
              <a:t>Behavioural</a:t>
            </a:r>
            <a:r>
              <a:rPr lang="it-IT" sz="1600" b="1" dirty="0">
                <a:solidFill>
                  <a:schemeClr val="lt2"/>
                </a:solidFill>
                <a:latin typeface="Outfit"/>
                <a:ea typeface="Inter"/>
                <a:sym typeface="Calibri"/>
              </a:rPr>
              <a:t> patterns</a:t>
            </a:r>
          </a:p>
          <a:p>
            <a:pPr algn="ctr"/>
            <a:r>
              <a:rPr lang="it-IT" sz="1200" b="1" dirty="0" err="1">
                <a:solidFill>
                  <a:schemeClr val="dk1"/>
                </a:solidFill>
                <a:latin typeface="Outfit"/>
                <a:ea typeface="Inter"/>
                <a:sym typeface="Calibri"/>
              </a:rPr>
              <a:t>Command</a:t>
            </a:r>
            <a:endParaRPr sz="1200" b="1" dirty="0">
              <a:solidFill>
                <a:schemeClr val="dk1"/>
              </a:solidFill>
              <a:latin typeface="Outfit"/>
              <a:ea typeface="Inter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983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54B314-1FD4-B227-DBD7-F3FDE974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User Stories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7CEFB043-927D-2217-F99F-249FA53BC179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635750" y="1764900"/>
            <a:ext cx="2156218" cy="447600"/>
          </a:xfrm>
        </p:spPr>
        <p:txBody>
          <a:bodyPr/>
          <a:lstStyle/>
          <a:p>
            <a:pPr algn="ctr"/>
            <a:r>
              <a:rPr lang="it-IT" sz="2000" dirty="0"/>
              <a:t>High </a:t>
            </a:r>
            <a:r>
              <a:rPr lang="it-IT" sz="2000" dirty="0" err="1"/>
              <a:t>priority</a:t>
            </a:r>
            <a:endParaRPr lang="it-IT" sz="2000" dirty="0"/>
          </a:p>
        </p:txBody>
      </p:sp>
      <p:sp>
        <p:nvSpPr>
          <p:cNvPr id="9" name="Sottotitolo 8">
            <a:extLst>
              <a:ext uri="{FF2B5EF4-FFF2-40B4-BE49-F238E27FC236}">
                <a16:creationId xmlns:a16="http://schemas.microsoft.com/office/drawing/2014/main" id="{E0696693-9CC8-89CD-DCFB-04B316D73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857" y="1105937"/>
            <a:ext cx="7041315" cy="678900"/>
          </a:xfrm>
        </p:spPr>
        <p:txBody>
          <a:bodyPr/>
          <a:lstStyle/>
          <a:p>
            <a:pPr algn="ctr"/>
            <a:r>
              <a:rPr lang="en-US" sz="1400" dirty="0"/>
              <a:t>Divided by priority based on whether they concern the front end or the back end</a:t>
            </a:r>
            <a:endParaRPr lang="it-IT" sz="1400" dirty="0"/>
          </a:p>
        </p:txBody>
      </p:sp>
      <p:sp>
        <p:nvSpPr>
          <p:cNvPr id="10" name="Sottotitolo 9">
            <a:extLst>
              <a:ext uri="{FF2B5EF4-FFF2-40B4-BE49-F238E27FC236}">
                <a16:creationId xmlns:a16="http://schemas.microsoft.com/office/drawing/2014/main" id="{5BF0CA05-B14B-8DAE-CB5B-FC87A68EE3A3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239510" y="2158424"/>
            <a:ext cx="2552458" cy="1925895"/>
          </a:xfrm>
        </p:spPr>
        <p:txBody>
          <a:bodyPr/>
          <a:lstStyle/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Trigger and Action </a:t>
            </a:r>
            <a:r>
              <a:rPr lang="it-IT" sz="1400" dirty="0" err="1"/>
              <a:t>interfaces</a:t>
            </a:r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Rule and Rules class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First Trigger and Action concrete classes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Scenes, </a:t>
            </a:r>
            <a:r>
              <a:rPr lang="it-IT" sz="1400" dirty="0" err="1"/>
              <a:t>buttons</a:t>
            </a:r>
            <a:r>
              <a:rPr lang="it-IT" sz="1400" dirty="0"/>
              <a:t>, </a:t>
            </a:r>
            <a:r>
              <a:rPr lang="it-IT" sz="1400" dirty="0" err="1"/>
              <a:t>sections</a:t>
            </a:r>
            <a:endParaRPr lang="it-IT" sz="1400" dirty="0"/>
          </a:p>
        </p:txBody>
      </p:sp>
      <p:sp>
        <p:nvSpPr>
          <p:cNvPr id="15" name="Titolo 3">
            <a:extLst>
              <a:ext uri="{FF2B5EF4-FFF2-40B4-BE49-F238E27FC236}">
                <a16:creationId xmlns:a16="http://schemas.microsoft.com/office/drawing/2014/main" id="{E27ACCFE-18D8-7248-A4FB-1B9F958796E6}"/>
              </a:ext>
            </a:extLst>
          </p:cNvPr>
          <p:cNvSpPr txBox="1">
            <a:spLocks/>
          </p:cNvSpPr>
          <p:nvPr/>
        </p:nvSpPr>
        <p:spPr>
          <a:xfrm>
            <a:off x="3324086" y="1759979"/>
            <a:ext cx="212573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ctr"/>
            <a:r>
              <a:rPr lang="it-IT" sz="2000" dirty="0"/>
              <a:t>Medium </a:t>
            </a:r>
            <a:r>
              <a:rPr lang="it-IT" sz="2000" dirty="0" err="1"/>
              <a:t>priority</a:t>
            </a:r>
            <a:endParaRPr lang="it-IT" sz="2000" dirty="0"/>
          </a:p>
        </p:txBody>
      </p:sp>
      <p:sp>
        <p:nvSpPr>
          <p:cNvPr id="16" name="Sottotitolo 9">
            <a:extLst>
              <a:ext uri="{FF2B5EF4-FFF2-40B4-BE49-F238E27FC236}">
                <a16:creationId xmlns:a16="http://schemas.microsoft.com/office/drawing/2014/main" id="{A6F179F6-84FC-93E0-AEB7-F764FE3E1443}"/>
              </a:ext>
            </a:extLst>
          </p:cNvPr>
          <p:cNvSpPr txBox="1">
            <a:spLocks/>
          </p:cNvSpPr>
          <p:nvPr/>
        </p:nvSpPr>
        <p:spPr>
          <a:xfrm>
            <a:off x="2876791" y="2207579"/>
            <a:ext cx="2989846" cy="179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 err="1"/>
              <a:t>Activation</a:t>
            </a:r>
            <a:r>
              <a:rPr lang="it-IT" sz="1400" dirty="0"/>
              <a:t>/</a:t>
            </a:r>
            <a:r>
              <a:rPr lang="it-IT" sz="1400" dirty="0" err="1"/>
              <a:t>deactivation</a:t>
            </a:r>
            <a:r>
              <a:rPr lang="it-IT" sz="1400" dirty="0"/>
              <a:t> status of the rules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Features </a:t>
            </a:r>
            <a:r>
              <a:rPr lang="it-IT" sz="1400" dirty="0" err="1"/>
              <a:t>about</a:t>
            </a:r>
            <a:r>
              <a:rPr lang="it-IT" sz="1400" dirty="0"/>
              <a:t> time of </a:t>
            </a:r>
            <a:r>
              <a:rPr lang="it-IT" sz="1400" dirty="0" err="1"/>
              <a:t>sleep</a:t>
            </a:r>
            <a:r>
              <a:rPr lang="it-IT" sz="1400" dirty="0"/>
              <a:t> of rules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New </a:t>
            </a:r>
            <a:r>
              <a:rPr lang="it-IT" sz="1400" dirty="0" err="1"/>
              <a:t>buttons</a:t>
            </a:r>
            <a:r>
              <a:rPr lang="it-IT" sz="1400" dirty="0"/>
              <a:t>:</a:t>
            </a:r>
          </a:p>
          <a:p>
            <a:pPr marL="152400" indent="0" algn="ctr"/>
            <a:r>
              <a:rPr lang="it-IT" sz="1400" dirty="0" err="1"/>
              <a:t>Add</a:t>
            </a:r>
            <a:r>
              <a:rPr lang="it-IT" sz="1400" dirty="0"/>
              <a:t> rule, </a:t>
            </a:r>
            <a:r>
              <a:rPr lang="it-IT" sz="1400" dirty="0" err="1"/>
              <a:t>remove</a:t>
            </a:r>
            <a:r>
              <a:rPr lang="it-IT" sz="1400" dirty="0"/>
              <a:t> rule, </a:t>
            </a:r>
            <a:r>
              <a:rPr lang="it-IT" sz="1400" dirty="0" err="1"/>
              <a:t>active</a:t>
            </a:r>
            <a:r>
              <a:rPr lang="it-IT" sz="1400" dirty="0"/>
              <a:t>/</a:t>
            </a:r>
            <a:r>
              <a:rPr lang="it-IT" sz="1400" dirty="0" err="1"/>
              <a:t>disactive</a:t>
            </a:r>
            <a:r>
              <a:rPr lang="it-IT" sz="1400" dirty="0"/>
              <a:t> rule</a:t>
            </a:r>
          </a:p>
          <a:p>
            <a:pPr marL="152400" indent="0" algn="ctr"/>
            <a:endParaRPr lang="it-IT" sz="1400" dirty="0"/>
          </a:p>
        </p:txBody>
      </p:sp>
      <p:sp>
        <p:nvSpPr>
          <p:cNvPr id="17" name="Titolo 3">
            <a:extLst>
              <a:ext uri="{FF2B5EF4-FFF2-40B4-BE49-F238E27FC236}">
                <a16:creationId xmlns:a16="http://schemas.microsoft.com/office/drawing/2014/main" id="{A79B3243-445A-07B0-B553-D2303A4714C7}"/>
              </a:ext>
            </a:extLst>
          </p:cNvPr>
          <p:cNvSpPr txBox="1">
            <a:spLocks/>
          </p:cNvSpPr>
          <p:nvPr/>
        </p:nvSpPr>
        <p:spPr>
          <a:xfrm>
            <a:off x="6182347" y="1759979"/>
            <a:ext cx="212573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ctr"/>
            <a:r>
              <a:rPr lang="it-IT" sz="2000" dirty="0"/>
              <a:t>Low </a:t>
            </a:r>
            <a:r>
              <a:rPr lang="it-IT" sz="2000" dirty="0" err="1"/>
              <a:t>priority</a:t>
            </a:r>
            <a:endParaRPr lang="it-IT" sz="2000" dirty="0"/>
          </a:p>
        </p:txBody>
      </p:sp>
      <p:sp>
        <p:nvSpPr>
          <p:cNvPr id="18" name="Sottotitolo 9">
            <a:extLst>
              <a:ext uri="{FF2B5EF4-FFF2-40B4-BE49-F238E27FC236}">
                <a16:creationId xmlns:a16="http://schemas.microsoft.com/office/drawing/2014/main" id="{2CCBF7B6-702F-560D-195C-5CE3094D64A2}"/>
              </a:ext>
            </a:extLst>
          </p:cNvPr>
          <p:cNvSpPr txBox="1">
            <a:spLocks/>
          </p:cNvSpPr>
          <p:nvPr/>
        </p:nvSpPr>
        <p:spPr>
          <a:xfrm>
            <a:off x="5750292" y="2207579"/>
            <a:ext cx="2989846" cy="179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More triggers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More Actions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Link more Actions and more Triggers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New </a:t>
            </a:r>
            <a:r>
              <a:rPr lang="it-IT" sz="1400" dirty="0" err="1"/>
              <a:t>sections</a:t>
            </a:r>
            <a:r>
              <a:rPr lang="it-IT" sz="1400" dirty="0"/>
              <a:t> and </a:t>
            </a:r>
            <a:r>
              <a:rPr lang="it-IT" sz="1400" dirty="0" err="1"/>
              <a:t>buttons</a:t>
            </a:r>
            <a:r>
              <a:rPr lang="it-IT" sz="1400" dirty="0"/>
              <a:t> for Trigger and Actions</a:t>
            </a:r>
          </a:p>
          <a:p>
            <a:pPr marL="152400" indent="0" algn="ctr"/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25781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Definition of DONE</a:t>
            </a:r>
            <a:endParaRPr dirty="0"/>
          </a:p>
        </p:txBody>
      </p:sp>
      <p:sp>
        <p:nvSpPr>
          <p:cNvPr id="1431" name="Google Shape;1431;p40"/>
          <p:cNvSpPr/>
          <p:nvPr/>
        </p:nvSpPr>
        <p:spPr>
          <a:xfrm>
            <a:off x="1053675" y="136170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40"/>
          <p:cNvSpPr/>
          <p:nvPr/>
        </p:nvSpPr>
        <p:spPr>
          <a:xfrm>
            <a:off x="7235671" y="136170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40"/>
          <p:cNvSpPr/>
          <p:nvPr/>
        </p:nvSpPr>
        <p:spPr>
          <a:xfrm>
            <a:off x="1053601" y="3417065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40"/>
          <p:cNvSpPr txBox="1"/>
          <p:nvPr/>
        </p:nvSpPr>
        <p:spPr>
          <a:xfrm flipH="1">
            <a:off x="959801" y="1882075"/>
            <a:ext cx="1478598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Code </a:t>
            </a:r>
            <a:r>
              <a:rPr lang="it-IT" sz="1200" dirty="0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Completeness</a:t>
            </a: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&amp; </a:t>
            </a:r>
            <a:r>
              <a:rPr lang="it-IT" sz="1200" dirty="0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Functionality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7" name="Google Shape;1437;p40"/>
          <p:cNvSpPr txBox="1"/>
          <p:nvPr/>
        </p:nvSpPr>
        <p:spPr>
          <a:xfrm flipH="1">
            <a:off x="6786370" y="1930843"/>
            <a:ext cx="1105779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Code Quality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8" name="Google Shape;1438;p40"/>
          <p:cNvSpPr txBox="1"/>
          <p:nvPr/>
        </p:nvSpPr>
        <p:spPr>
          <a:xfrm flipH="1">
            <a:off x="801305" y="3937440"/>
            <a:ext cx="865191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Testing 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439" name="Google Shape;1439;p40"/>
          <p:cNvCxnSpPr>
            <a:cxnSpLocks/>
            <a:stCxn id="1431" idx="3"/>
          </p:cNvCxnSpPr>
          <p:nvPr/>
        </p:nvCxnSpPr>
        <p:spPr>
          <a:xfrm flipV="1">
            <a:off x="1230075" y="1430525"/>
            <a:ext cx="3072246" cy="19375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0" name="Google Shape;1440;p40"/>
          <p:cNvCxnSpPr>
            <a:cxnSpLocks/>
            <a:endCxn id="1433" idx="1"/>
          </p:cNvCxnSpPr>
          <p:nvPr/>
        </p:nvCxnSpPr>
        <p:spPr>
          <a:xfrm>
            <a:off x="4163425" y="1430525"/>
            <a:ext cx="3072246" cy="19375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2" name="Google Shape;1442;p40"/>
          <p:cNvCxnSpPr>
            <a:stCxn id="1431" idx="2"/>
            <a:endCxn id="1443" idx="0"/>
          </p:cNvCxnSpPr>
          <p:nvPr/>
        </p:nvCxnSpPr>
        <p:spPr>
          <a:xfrm>
            <a:off x="114187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46" name="Google Shape;1446;p40"/>
          <p:cNvCxnSpPr>
            <a:cxnSpLocks/>
            <a:stCxn id="1433" idx="2"/>
          </p:cNvCxnSpPr>
          <p:nvPr/>
        </p:nvCxnSpPr>
        <p:spPr>
          <a:xfrm>
            <a:off x="7323871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48" name="Google Shape;1448;p40"/>
          <p:cNvCxnSpPr>
            <a:cxnSpLocks/>
            <a:stCxn id="1434" idx="2"/>
          </p:cNvCxnSpPr>
          <p:nvPr/>
        </p:nvCxnSpPr>
        <p:spPr>
          <a:xfrm>
            <a:off x="1141801" y="359346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451" name="Google Shape;1451;p40"/>
          <p:cNvSpPr/>
          <p:nvPr/>
        </p:nvSpPr>
        <p:spPr>
          <a:xfrm>
            <a:off x="7234411" y="3417065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40"/>
          <p:cNvSpPr txBox="1"/>
          <p:nvPr/>
        </p:nvSpPr>
        <p:spPr>
          <a:xfrm flipH="1">
            <a:off x="3893222" y="3937440"/>
            <a:ext cx="1531949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55" name="Google Shape;1455;p40"/>
          <p:cNvSpPr txBox="1"/>
          <p:nvPr/>
        </p:nvSpPr>
        <p:spPr>
          <a:xfrm flipH="1">
            <a:off x="6897531" y="4017128"/>
            <a:ext cx="12834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Architecture 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458" name="Google Shape;1458;p40"/>
          <p:cNvCxnSpPr>
            <a:cxnSpLocks/>
            <a:endCxn id="1451" idx="1"/>
          </p:cNvCxnSpPr>
          <p:nvPr/>
        </p:nvCxnSpPr>
        <p:spPr>
          <a:xfrm>
            <a:off x="4163511" y="3505264"/>
            <a:ext cx="3070900" cy="1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3" name="Google Shape;1463;p40"/>
          <p:cNvCxnSpPr>
            <a:cxnSpLocks/>
            <a:stCxn id="1451" idx="2"/>
          </p:cNvCxnSpPr>
          <p:nvPr/>
        </p:nvCxnSpPr>
        <p:spPr>
          <a:xfrm>
            <a:off x="7322611" y="359346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69" name="Google Shape;1469;p40"/>
          <p:cNvCxnSpPr>
            <a:cxnSpLocks/>
            <a:stCxn id="1434" idx="3"/>
          </p:cNvCxnSpPr>
          <p:nvPr/>
        </p:nvCxnSpPr>
        <p:spPr>
          <a:xfrm flipV="1">
            <a:off x="1230001" y="3505264"/>
            <a:ext cx="3341999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440;p40">
            <a:extLst>
              <a:ext uri="{FF2B5EF4-FFF2-40B4-BE49-F238E27FC236}">
                <a16:creationId xmlns:a16="http://schemas.microsoft.com/office/drawing/2014/main" id="{9EA36925-31FD-2EA7-D6B5-C7CE84A99E3F}"/>
              </a:ext>
            </a:extLst>
          </p:cNvPr>
          <p:cNvCxnSpPr>
            <a:cxnSpLocks/>
          </p:cNvCxnSpPr>
          <p:nvPr/>
        </p:nvCxnSpPr>
        <p:spPr>
          <a:xfrm>
            <a:off x="7322611" y="2472900"/>
            <a:ext cx="0" cy="211558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40;p40">
            <a:extLst>
              <a:ext uri="{FF2B5EF4-FFF2-40B4-BE49-F238E27FC236}">
                <a16:creationId xmlns:a16="http://schemas.microsoft.com/office/drawing/2014/main" id="{D7CDF83E-B6E2-20D4-8E92-B039A56AC05F}"/>
              </a:ext>
            </a:extLst>
          </p:cNvPr>
          <p:cNvCxnSpPr>
            <a:cxnSpLocks/>
          </p:cNvCxnSpPr>
          <p:nvPr/>
        </p:nvCxnSpPr>
        <p:spPr>
          <a:xfrm>
            <a:off x="1141801" y="2688300"/>
            <a:ext cx="618081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440;p40">
            <a:extLst>
              <a:ext uri="{FF2B5EF4-FFF2-40B4-BE49-F238E27FC236}">
                <a16:creationId xmlns:a16="http://schemas.microsoft.com/office/drawing/2014/main" id="{C837282C-2484-19D2-F653-5AE957E25AB3}"/>
              </a:ext>
            </a:extLst>
          </p:cNvPr>
          <p:cNvCxnSpPr>
            <a:cxnSpLocks/>
          </p:cNvCxnSpPr>
          <p:nvPr/>
        </p:nvCxnSpPr>
        <p:spPr>
          <a:xfrm>
            <a:off x="1141801" y="2692435"/>
            <a:ext cx="0" cy="742581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83C5-A791-87D9-B36F-EC81F92D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EA6312E-FE8E-35FC-96B3-0FA9FF41E661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552113" y="1610340"/>
            <a:ext cx="3250450" cy="447600"/>
          </a:xfrm>
        </p:spPr>
        <p:txBody>
          <a:bodyPr/>
          <a:lstStyle/>
          <a:p>
            <a:pPr algn="ctr"/>
            <a:r>
              <a:rPr lang="it-IT" sz="3200" dirty="0" err="1"/>
              <a:t>Acceptance</a:t>
            </a:r>
            <a:r>
              <a:rPr lang="it-IT" sz="3200" dirty="0"/>
              <a:t> </a:t>
            </a:r>
            <a:r>
              <a:rPr lang="it-IT" sz="3200" dirty="0" err="1"/>
              <a:t>Criteria</a:t>
            </a:r>
            <a:endParaRPr lang="it-IT" sz="3200" dirty="0"/>
          </a:p>
        </p:txBody>
      </p:sp>
      <p:sp>
        <p:nvSpPr>
          <p:cNvPr id="10" name="Sottotitolo 9">
            <a:extLst>
              <a:ext uri="{FF2B5EF4-FFF2-40B4-BE49-F238E27FC236}">
                <a16:creationId xmlns:a16="http://schemas.microsoft.com/office/drawing/2014/main" id="{E5392CAD-F077-8520-987B-7032133BE533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901109" y="2303205"/>
            <a:ext cx="2552458" cy="1200240"/>
          </a:xfrm>
        </p:spPr>
        <p:txBody>
          <a:bodyPr/>
          <a:lstStyle/>
          <a:p>
            <a:pPr marL="152400" indent="0" algn="ctr"/>
            <a:r>
              <a:rPr lang="it-IT" sz="1400" dirty="0" err="1"/>
              <a:t>Divided</a:t>
            </a:r>
            <a:r>
              <a:rPr lang="it-IT" sz="1400" dirty="0"/>
              <a:t> </a:t>
            </a:r>
            <a:r>
              <a:rPr lang="it-IT" sz="1400" dirty="0" err="1"/>
              <a:t>at</a:t>
            </a:r>
            <a:r>
              <a:rPr lang="it-IT" sz="1400" dirty="0"/>
              <a:t> the </a:t>
            </a:r>
            <a:r>
              <a:rPr lang="it-IT" sz="1400" dirty="0" err="1"/>
              <a:t>same</a:t>
            </a:r>
            <a:r>
              <a:rPr lang="it-IT" sz="1400" dirty="0"/>
              <a:t> way of User Stories and </a:t>
            </a:r>
            <a:r>
              <a:rPr lang="it-IT" sz="1400" dirty="0" err="1"/>
              <a:t>defined</a:t>
            </a:r>
            <a:r>
              <a:rPr lang="it-IT" sz="1400" dirty="0"/>
              <a:t> for </a:t>
            </a:r>
            <a:r>
              <a:rPr lang="it-IT" sz="1400" dirty="0" err="1"/>
              <a:t>each</a:t>
            </a:r>
            <a:r>
              <a:rPr lang="it-IT" sz="1400" dirty="0"/>
              <a:t> of </a:t>
            </a:r>
            <a:r>
              <a:rPr lang="it-IT" sz="1400" dirty="0" err="1"/>
              <a:t>them</a:t>
            </a:r>
            <a:r>
              <a:rPr lang="it-IT" sz="1400" dirty="0"/>
              <a:t> </a:t>
            </a:r>
          </a:p>
        </p:txBody>
      </p:sp>
      <p:sp>
        <p:nvSpPr>
          <p:cNvPr id="15" name="Titolo 3">
            <a:extLst>
              <a:ext uri="{FF2B5EF4-FFF2-40B4-BE49-F238E27FC236}">
                <a16:creationId xmlns:a16="http://schemas.microsoft.com/office/drawing/2014/main" id="{4720588D-E36A-4871-0EA0-B595501364A0}"/>
              </a:ext>
            </a:extLst>
          </p:cNvPr>
          <p:cNvSpPr txBox="1">
            <a:spLocks/>
          </p:cNvSpPr>
          <p:nvPr/>
        </p:nvSpPr>
        <p:spPr>
          <a:xfrm>
            <a:off x="4917857" y="1513830"/>
            <a:ext cx="3411812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ctr"/>
            <a:r>
              <a:rPr lang="it-IT" sz="3200" dirty="0"/>
              <a:t>First Sprint Planning</a:t>
            </a:r>
          </a:p>
        </p:txBody>
      </p:sp>
      <p:sp>
        <p:nvSpPr>
          <p:cNvPr id="16" name="Sottotitolo 9">
            <a:extLst>
              <a:ext uri="{FF2B5EF4-FFF2-40B4-BE49-F238E27FC236}">
                <a16:creationId xmlns:a16="http://schemas.microsoft.com/office/drawing/2014/main" id="{E9E113E5-FFB7-991E-C985-93F263FCFB1C}"/>
              </a:ext>
            </a:extLst>
          </p:cNvPr>
          <p:cNvSpPr txBox="1">
            <a:spLocks/>
          </p:cNvSpPr>
          <p:nvPr/>
        </p:nvSpPr>
        <p:spPr>
          <a:xfrm>
            <a:off x="5128840" y="2171181"/>
            <a:ext cx="2989846" cy="179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algn="ctr"/>
            <a:r>
              <a:rPr lang="en-US" sz="1400" dirty="0"/>
              <a:t>We tried to assign a specific amount of time to each task, also taking into account daily meetings, code reviews, sprint reviews, etc.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623336649"/>
      </p:ext>
    </p:extLst>
  </p:cSld>
  <p:clrMapOvr>
    <a:masterClrMapping/>
  </p:clrMapOvr>
</p:sld>
</file>

<file path=ppt/theme/theme1.xml><?xml version="1.0" encoding="utf-8"?>
<a:theme xmlns:a="http://schemas.openxmlformats.org/drawingml/2006/main" name="Automotive Industry Agency by Slidesgo">
  <a:themeElements>
    <a:clrScheme name="Simple Light">
      <a:dk1>
        <a:srgbClr val="191919"/>
      </a:dk1>
      <a:lt1>
        <a:srgbClr val="595959"/>
      </a:lt1>
      <a:dk2>
        <a:srgbClr val="EEEEEE"/>
      </a:dk2>
      <a:lt2>
        <a:srgbClr val="17499C"/>
      </a:lt2>
      <a:accent1>
        <a:srgbClr val="B2BC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167</Words>
  <Application>Microsoft Office PowerPoint</Application>
  <PresentationFormat>Presentazione su schermo (16:9)</PresentationFormat>
  <Paragraphs>38</Paragraphs>
  <Slides>5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1" baseType="lpstr">
      <vt:lpstr>Arial</vt:lpstr>
      <vt:lpstr>Raleway</vt:lpstr>
      <vt:lpstr>Barlow</vt:lpstr>
      <vt:lpstr>Outfit</vt:lpstr>
      <vt:lpstr>Calibri</vt:lpstr>
      <vt:lpstr>Automotive Industry Agency by Slidesgo</vt:lpstr>
      <vt:lpstr>Pre-Game presentation Group n. 05</vt:lpstr>
      <vt:lpstr>Architecture</vt:lpstr>
      <vt:lpstr>User Stories</vt:lpstr>
      <vt:lpstr>Definition of DONE</vt:lpstr>
      <vt:lpstr>Acceptance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Industry Agency</dc:title>
  <cp:lastModifiedBy>ANTONIO PEPE</cp:lastModifiedBy>
  <cp:revision>19</cp:revision>
  <dcterms:modified xsi:type="dcterms:W3CDTF">2025-11-29T18:58:32Z</dcterms:modified>
</cp:coreProperties>
</file>