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97" r:id="rId3"/>
    <p:sldId id="300" r:id="rId4"/>
    <p:sldId id="301" r:id="rId5"/>
    <p:sldId id="302" r:id="rId6"/>
    <p:sldId id="303" r:id="rId7"/>
    <p:sldId id="269" r:id="rId8"/>
    <p:sldId id="298" r:id="rId9"/>
    <p:sldId id="299" r:id="rId10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2"/>
      <p:bold r:id="rId13"/>
      <p:italic r:id="rId14"/>
      <p:boldItalic r:id="rId15"/>
    </p:embeddedFont>
    <p:embeddedFont>
      <p:font typeface="Outfit" panose="020B0604020202020204" charset="0"/>
      <p:regular r:id="rId16"/>
      <p:bold r:id="rId17"/>
    </p:embeddedFont>
    <p:embeddedFont>
      <p:font typeface="Raleway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1" autoAdjust="0"/>
    <p:restoredTop sz="94660"/>
  </p:normalViewPr>
  <p:slideViewPr>
    <p:cSldViewPr snapToGrid="0">
      <p:cViewPr>
        <p:scale>
          <a:sx n="100" d="100"/>
          <a:sy n="100" d="100"/>
        </p:scale>
        <p:origin x="9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5E153E33-2661-8CC0-D31F-B2F52ABA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0A841D73-60A1-76EC-D22A-C35F8EC89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8742B257-5FD1-05BB-779B-F75DE6280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1952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99B8F9A3-11E4-402D-51DA-96EA8382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00B1F6E5-037A-3BE0-0E63-FAA3EB073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CFA0D66A-3A85-7872-60D6-608D97A63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602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4F44E077-29A8-8764-658A-4BC9FF37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E7D6891C-1CA2-1ACB-4432-06C9539B4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FBADC9B6-9F1C-BDF5-EEF1-2E9AC8344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00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E57A2FFF-EDE9-0E28-6D7B-F85D6BE4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>
            <a:extLst>
              <a:ext uri="{FF2B5EF4-FFF2-40B4-BE49-F238E27FC236}">
                <a16:creationId xmlns:a16="http://schemas.microsoft.com/office/drawing/2014/main" id="{40787A90-9E5B-1802-37DE-CF9FCC5B3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>
            <a:extLst>
              <a:ext uri="{FF2B5EF4-FFF2-40B4-BE49-F238E27FC236}">
                <a16:creationId xmlns:a16="http://schemas.microsoft.com/office/drawing/2014/main" id="{BA0A04FE-3E95-64EA-798B-EB097E053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264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/>
              <a:t>Second Sprint 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04</a:t>
            </a:r>
            <a:br>
              <a:rPr lang="it-IT" sz="3600" dirty="0"/>
            </a:b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Sprint backlog</a:t>
            </a:r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342" y="1165885"/>
            <a:ext cx="7041315" cy="425683"/>
          </a:xfrm>
        </p:spPr>
        <p:txBody>
          <a:bodyPr/>
          <a:lstStyle/>
          <a:p>
            <a:pPr algn="ctr"/>
            <a:r>
              <a:rPr lang="en-US" sz="1400" dirty="0"/>
              <a:t>User stories selected (SP = 30min)</a:t>
            </a:r>
            <a:endParaRPr lang="it-IT" sz="1400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09A0AAC2-6A51-CE05-9E60-8B68699876D4}"/>
              </a:ext>
            </a:extLst>
          </p:cNvPr>
          <p:cNvSpPr txBox="1">
            <a:spLocks/>
          </p:cNvSpPr>
          <p:nvPr/>
        </p:nvSpPr>
        <p:spPr>
          <a:xfrm>
            <a:off x="48768" y="1687856"/>
            <a:ext cx="2607057" cy="233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 b="0" dirty="0"/>
              <a:t>As a user I want to decide if a rule can be fired only one time or can be repeated more times after a sleep period (4 SP)</a:t>
            </a:r>
            <a:br>
              <a:rPr lang="en-US" sz="1400" b="0" dirty="0"/>
            </a:br>
            <a:endParaRPr lang="en-US" sz="140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CC5DE330-3A6A-6CB7-A378-3A83BBCB6B1E}"/>
              </a:ext>
            </a:extLst>
          </p:cNvPr>
          <p:cNvSpPr txBox="1">
            <a:spLocks/>
          </p:cNvSpPr>
          <p:nvPr/>
        </p:nvSpPr>
        <p:spPr>
          <a:xfrm>
            <a:off x="2563368" y="1687856"/>
            <a:ext cx="1926118" cy="180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 b="0" dirty="0"/>
              <a:t>As a user I want that all rules are saved and every time that I open the app all rules are shown in a list (4 SP)</a:t>
            </a:r>
            <a:endParaRPr lang="it-IT" sz="140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3255EFFC-5B5B-3A25-13E2-581741C12F2E}"/>
              </a:ext>
            </a:extLst>
          </p:cNvPr>
          <p:cNvSpPr txBox="1">
            <a:spLocks/>
          </p:cNvSpPr>
          <p:nvPr/>
        </p:nvSpPr>
        <p:spPr>
          <a:xfrm>
            <a:off x="4489486" y="1732369"/>
            <a:ext cx="2039330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400" b="0" dirty="0"/>
              <a:t>As a user I want a button to activate/deactivate the rules (4 SP) </a:t>
            </a:r>
            <a:endParaRPr lang="it-IT" sz="11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D6A5CEEE-9078-52E7-2660-9FA3747080AE}"/>
              </a:ext>
            </a:extLst>
          </p:cNvPr>
          <p:cNvSpPr txBox="1">
            <a:spLocks/>
          </p:cNvSpPr>
          <p:nvPr/>
        </p:nvSpPr>
        <p:spPr>
          <a:xfrm>
            <a:off x="6528816" y="1732369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/>
              <a:t>As a User I want to be able to select an action to show a notification from a list of action when the rule is triggered (3 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/>
              <a:t>As a User I want to use a button to close the notification (1 SP) </a:t>
            </a:r>
          </a:p>
          <a:p>
            <a:br>
              <a:rPr lang="en-US" sz="1050" dirty="0"/>
            </a:br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FDB305EB-9BB6-D8A4-A592-04F4CEAF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9F8E63B4-13BD-FBE2-6497-2A3644CC80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Activation</a:t>
            </a:r>
            <a:r>
              <a:rPr lang="it-IT" dirty="0"/>
              <a:t>/</a:t>
            </a:r>
            <a:r>
              <a:rPr lang="it-IT" dirty="0" err="1"/>
              <a:t>deactivation</a:t>
            </a:r>
            <a:endParaRPr dirty="0"/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69CF101-87A7-B36F-11C3-D483A5D11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18" y="1699127"/>
            <a:ext cx="4526982" cy="1867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1677681-944D-985E-6A56-BF14F71E4D2F}"/>
              </a:ext>
            </a:extLst>
          </p:cNvPr>
          <p:cNvSpPr txBox="1"/>
          <p:nvPr/>
        </p:nvSpPr>
        <p:spPr>
          <a:xfrm>
            <a:off x="5425440" y="1564601"/>
            <a:ext cx="32461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3: Activate/Deactivate Rule</a:t>
            </a:r>
            <a:endParaRPr lang="en-US" sz="1200" b="1" dirty="0">
              <a:effectLst/>
            </a:endParaRPr>
          </a:p>
          <a:p>
            <a:pPr marL="171450" indent="-171450" algn="just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Extend the Rule domain model to support activation and deactivation.</a:t>
            </a:r>
          </a:p>
          <a:p>
            <a:pPr marL="171450" indent="-171450" algn="just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that deactivated rules are ignored by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RuleEngine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algn="just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 a clear and intuitive UI control to activate or deactivate rules.</a:t>
            </a:r>
          </a:p>
          <a:p>
            <a:pPr marL="171450" indent="-171450" algn="just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consistent synchronization between the UI and the rule model</a:t>
            </a:r>
            <a:r>
              <a:rPr lang="en-US" sz="1050" dirty="0">
                <a:latin typeface="Arial" panose="020B0604020202020204" pitchFamily="34" charset="0"/>
              </a:rPr>
              <a:t>.</a:t>
            </a:r>
          </a:p>
          <a:p>
            <a:pPr marL="171450" indent="-171450" algn="just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</a:rPr>
              <a:t>Allow rules to restart their execution cycle when reactivated by the user</a:t>
            </a:r>
          </a:p>
        </p:txBody>
      </p:sp>
    </p:spTree>
    <p:extLst>
      <p:ext uri="{BB962C8B-B14F-4D97-AF65-F5344CB8AC3E}">
        <p14:creationId xmlns:p14="http://schemas.microsoft.com/office/powerpoint/2010/main" val="19169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CFB3D9F6-E035-BB90-5099-87DD8716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E2586EE7-7311-DA96-06C3-F55CA5BB5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Repetition</a:t>
            </a:r>
            <a:endParaRPr dirty="0"/>
          </a:p>
        </p:txBody>
      </p:sp>
      <p:pic>
        <p:nvPicPr>
          <p:cNvPr id="4" name="Immagine 3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9B460908-2A07-4B78-4764-F9382A31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81" r="5546"/>
          <a:stretch>
            <a:fillRect/>
          </a:stretch>
        </p:blipFill>
        <p:spPr>
          <a:xfrm>
            <a:off x="297179" y="2104904"/>
            <a:ext cx="3909063" cy="10517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5398A0-1F8E-F3C5-E805-5E2A3E2E0118}"/>
              </a:ext>
            </a:extLst>
          </p:cNvPr>
          <p:cNvSpPr txBox="1"/>
          <p:nvPr/>
        </p:nvSpPr>
        <p:spPr>
          <a:xfrm>
            <a:off x="4785359" y="1396383"/>
            <a:ext cx="3855721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1: Times of Repetition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dedicated Repetition model to encapsulate all repetition-related data and logic, in order to keep the Rule class simple and maintainable.</a:t>
            </a:r>
          </a:p>
          <a:p>
            <a:pPr marL="171450" indent="-171450"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Update the rule execution engine to correctly evaluate repetition constraints before firing a rule.</a:t>
            </a:r>
          </a:p>
          <a:p>
            <a:pPr marL="171450" indent="-171450"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 a user interface that allows users to choose between one-time execution and repeated execution with a configurable sleep period.</a:t>
            </a:r>
          </a:p>
          <a:p>
            <a:pPr marL="171450" indent="-171450" rtl="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Connect repetition configuration from the UI to rule creation logic.</a:t>
            </a:r>
          </a:p>
          <a:p>
            <a:pPr marL="171450" indent="-17145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</a:rPr>
              <a:t>Design repetition handling in a way that supports future extensions without modifying core rule logic.</a:t>
            </a:r>
          </a:p>
          <a:p>
            <a:pPr rtl="0" fontAlgn="base"/>
            <a:endParaRPr lang="en-US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39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45724885-567B-9A97-C779-BCE656C3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D68EADB0-45D7-26E5-E7D6-DEC810DDF0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Saving</a:t>
            </a:r>
            <a:r>
              <a:rPr lang="it-IT" dirty="0"/>
              <a:t> Rule </a:t>
            </a:r>
            <a:endParaRPr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CB7491E-F42A-1668-C998-43FEBBC1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44575"/>
            <a:ext cx="7962900" cy="4919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1F19917-CD4F-B9CA-BECB-C819C158C4C5}"/>
              </a:ext>
            </a:extLst>
          </p:cNvPr>
          <p:cNvSpPr txBox="1"/>
          <p:nvPr/>
        </p:nvSpPr>
        <p:spPr>
          <a:xfrm>
            <a:off x="1825080" y="3065741"/>
            <a:ext cx="65989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2: Saving of the Rules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Extend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RuleEngine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support saving and loading rules from persistent storage.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Define a consistent and readable format for rule persistence.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all saved rules are restored when the application starts.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Prevent data loss by persisting rules when the application closes.</a:t>
            </a:r>
          </a:p>
        </p:txBody>
      </p:sp>
      <p:pic>
        <p:nvPicPr>
          <p:cNvPr id="10" name="Immagine 9" descr="Immagine che contiene schermata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C954F270-C925-33DC-AF65-0192556E6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711" y="1963386"/>
            <a:ext cx="4347477" cy="791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D4AE55A-221B-0947-5073-17A5BB19E8B4}"/>
              </a:ext>
            </a:extLst>
          </p:cNvPr>
          <p:cNvCxnSpPr>
            <a:stCxn id="6" idx="2"/>
          </p:cNvCxnSpPr>
          <p:nvPr/>
        </p:nvCxnSpPr>
        <p:spPr>
          <a:xfrm>
            <a:off x="4701450" y="1736536"/>
            <a:ext cx="0" cy="22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42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A7794910-C211-B41F-BE71-7DD9CE5C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>
            <a:extLst>
              <a:ext uri="{FF2B5EF4-FFF2-40B4-BE49-F238E27FC236}">
                <a16:creationId xmlns:a16="http://schemas.microsoft.com/office/drawing/2014/main" id="{3ADF64EC-FF49-DD71-8C78-3274C3E3D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135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Notification Action</a:t>
            </a:r>
            <a:endParaRPr dirty="0"/>
          </a:p>
        </p:txBody>
      </p:sp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BA4111C-8C6C-4913-9453-AFEDE867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33" y="2270504"/>
            <a:ext cx="2615829" cy="920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A47B133-D770-34D3-203B-1E9FF8986B1D}"/>
              </a:ext>
            </a:extLst>
          </p:cNvPr>
          <p:cNvSpPr txBox="1"/>
          <p:nvPr/>
        </p:nvSpPr>
        <p:spPr>
          <a:xfrm>
            <a:off x="3368040" y="1213550"/>
            <a:ext cx="582930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4: Select Notification Action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new FXML file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Notification.fxml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containing a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TextField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the message content.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NotificationController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implementing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ActionControllerInterface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NotificationAction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class implementing the Action interface.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Update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ActionFactory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include the creation of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NotificationAction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 "Notification" to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ActionController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ComboBox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options.</a:t>
            </a:r>
          </a:p>
          <a:p>
            <a:pPr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 5: Close Notification Button</a:t>
            </a:r>
            <a:endParaRPr lang="en-US" sz="1200" b="1" dirty="0">
              <a:effectLst/>
            </a:endParaRP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 a generic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showNotificationDialog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method in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DialogManager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using the Alert class.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Call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DialogManager.showNotificationDialog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inside the execute() method of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NotificationAction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Ensure the </a:t>
            </a:r>
            <a:r>
              <a:rPr lang="en-US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RuleEngine</a:t>
            </a: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invokes this action on the JavaFX Application Thread.</a:t>
            </a:r>
          </a:p>
          <a:p>
            <a:pPr marL="171450" indent="-171450" rtl="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Verify that the standard "OK" button successfully dismisses the notification.</a:t>
            </a:r>
          </a:p>
        </p:txBody>
      </p:sp>
    </p:spTree>
    <p:extLst>
      <p:ext uri="{BB962C8B-B14F-4D97-AF65-F5344CB8AC3E}">
        <p14:creationId xmlns:p14="http://schemas.microsoft.com/office/powerpoint/2010/main" val="55297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Burndown</a:t>
            </a:r>
            <a:r>
              <a:rPr lang="it-IT" dirty="0"/>
              <a:t> Chart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71C7984-029A-167A-DB1E-71EA8051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017" y="1287780"/>
            <a:ext cx="5653965" cy="341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30;p40">
            <a:extLst>
              <a:ext uri="{FF2B5EF4-FFF2-40B4-BE49-F238E27FC236}">
                <a16:creationId xmlns:a16="http://schemas.microsoft.com/office/drawing/2014/main" id="{347E9AB8-E51B-35EB-8B63-36805386E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78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Sprint review report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E29B52-CD6B-8F75-2B84-B6B05C1EE209}"/>
              </a:ext>
            </a:extLst>
          </p:cNvPr>
          <p:cNvSpPr txBox="1"/>
          <p:nvPr/>
        </p:nvSpPr>
        <p:spPr>
          <a:xfrm>
            <a:off x="6234808" y="2724861"/>
            <a:ext cx="2182616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Project Velocity measured and respected: </a:t>
            </a:r>
          </a:p>
          <a:p>
            <a:pPr algn="ctr">
              <a:lnSpc>
                <a:spcPct val="150000"/>
              </a:lnSpc>
            </a:pPr>
            <a:r>
              <a:rPr lang="en-US" sz="1200" dirty="0"/>
              <a:t>16</a:t>
            </a:r>
          </a:p>
        </p:txBody>
      </p:sp>
      <p:pic>
        <p:nvPicPr>
          <p:cNvPr id="5" name="Immagine 4" descr="Immagine che contiene logo, simbolo, schermat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A228FF89-C594-F3D2-CF55-BCEF0171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896" y="1932361"/>
            <a:ext cx="742874" cy="742874"/>
          </a:xfrm>
          <a:prstGeom prst="rect">
            <a:avLst/>
          </a:prstGeom>
        </p:spPr>
      </p:pic>
      <p:pic>
        <p:nvPicPr>
          <p:cNvPr id="8" name="Immagine 7" descr="Immagine che contiene Policromia, verde, linea, lampada&#10;&#10;Il contenuto generato dall'IA potrebbe non essere corretto.">
            <a:extLst>
              <a:ext uri="{FF2B5EF4-FFF2-40B4-BE49-F238E27FC236}">
                <a16:creationId xmlns:a16="http://schemas.microsoft.com/office/drawing/2014/main" id="{BD8DBFD0-DDB5-3D8D-4EA7-79214DE2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447" y="1873863"/>
            <a:ext cx="742874" cy="742874"/>
          </a:xfrm>
          <a:prstGeom prst="rect">
            <a:avLst/>
          </a:prstGeom>
        </p:spPr>
      </p:pic>
      <p:pic>
        <p:nvPicPr>
          <p:cNvPr id="11" name="Immagine 10" descr="Immagine che contiene cerchio, orologio, simbolo&#10;&#10;Il contenuto generato dall'IA potrebbe non essere corretto.">
            <a:extLst>
              <a:ext uri="{FF2B5EF4-FFF2-40B4-BE49-F238E27FC236}">
                <a16:creationId xmlns:a16="http://schemas.microsoft.com/office/drawing/2014/main" id="{A1DCD9D3-FA4B-DEB9-F3D3-B9ABC9D3F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679" y="1881483"/>
            <a:ext cx="742874" cy="74287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0CCEF1-2B1E-D6C0-D4FC-DC8878055B70}"/>
              </a:ext>
            </a:extLst>
          </p:cNvPr>
          <p:cNvSpPr txBox="1"/>
          <p:nvPr/>
        </p:nvSpPr>
        <p:spPr>
          <a:xfrm>
            <a:off x="628581" y="2713335"/>
            <a:ext cx="2182616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ts val="2700"/>
              </a:lnSpc>
              <a:buNone/>
            </a:pPr>
            <a:r>
              <a:rPr lang="en-US" sz="1200" dirty="0"/>
              <a:t>All tasks completed successfully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5460BBD-2FC5-9593-EFAD-F7067CD2844C}"/>
              </a:ext>
            </a:extLst>
          </p:cNvPr>
          <p:cNvSpPr txBox="1"/>
          <p:nvPr/>
        </p:nvSpPr>
        <p:spPr>
          <a:xfrm>
            <a:off x="3437702" y="2724861"/>
            <a:ext cx="2427262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Any user stories rejected by the Product Owner: </a:t>
            </a:r>
          </a:p>
          <a:p>
            <a:pPr algn="ctr">
              <a:lnSpc>
                <a:spcPct val="150000"/>
              </a:lnSpc>
            </a:pPr>
            <a:r>
              <a:rPr lang="en-US" sz="12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510-6F00-1CD7-889B-5CEFBCC6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4F9D9E-98F4-2600-F989-C658AA9A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First sprint </a:t>
            </a:r>
            <a:r>
              <a:rPr lang="it-IT" dirty="0" err="1"/>
              <a:t>retrospective</a:t>
            </a:r>
            <a:endParaRPr lang="it-IT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36DC74AF-22F8-F194-2C9B-6EDC950C13CD}"/>
              </a:ext>
            </a:extLst>
          </p:cNvPr>
          <p:cNvSpPr txBox="1">
            <a:spLocks/>
          </p:cNvSpPr>
          <p:nvPr/>
        </p:nvSpPr>
        <p:spPr>
          <a:xfrm>
            <a:off x="720000" y="1297778"/>
            <a:ext cx="2607057" cy="129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Stop </a:t>
            </a:r>
          </a:p>
          <a:p>
            <a:pPr algn="ctr"/>
            <a:r>
              <a:rPr lang="en-US" sz="1600" dirty="0"/>
              <a:t>(things to stop doing)</a:t>
            </a:r>
            <a:endParaRPr lang="it-IT" sz="12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Define too generic style classes.</a:t>
            </a:r>
            <a:br>
              <a:rPr lang="en-US" sz="1050" b="0" dirty="0"/>
            </a:br>
            <a:endParaRPr lang="en-US" sz="105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7FF093D1-0779-671C-C9F0-E52A5EEFA2C8}"/>
              </a:ext>
            </a:extLst>
          </p:cNvPr>
          <p:cNvSpPr txBox="1">
            <a:spLocks/>
          </p:cNvSpPr>
          <p:nvPr/>
        </p:nvSpPr>
        <p:spPr>
          <a:xfrm>
            <a:off x="3810653" y="1281716"/>
            <a:ext cx="1926118" cy="131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Less</a:t>
            </a:r>
            <a:r>
              <a:rPr lang="it-IT" sz="1600" dirty="0"/>
              <a:t> of</a:t>
            </a:r>
          </a:p>
          <a:p>
            <a:pPr algn="ctr"/>
            <a:endParaRPr lang="it-IT" sz="16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None.</a:t>
            </a:r>
            <a:endParaRPr lang="it-IT" sz="1050" b="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C7394569-8867-C993-2F08-C1F06E3D7306}"/>
              </a:ext>
            </a:extLst>
          </p:cNvPr>
          <p:cNvSpPr txBox="1">
            <a:spLocks/>
          </p:cNvSpPr>
          <p:nvPr/>
        </p:nvSpPr>
        <p:spPr>
          <a:xfrm>
            <a:off x="6011890" y="1281716"/>
            <a:ext cx="2607057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Keep</a:t>
            </a:r>
            <a:r>
              <a:rPr lang="it-IT" sz="1600" dirty="0"/>
              <a:t> </a:t>
            </a:r>
            <a:r>
              <a:rPr lang="it-IT" sz="1600" dirty="0" err="1"/>
              <a:t>doing</a:t>
            </a:r>
            <a:endParaRPr lang="it-IT" sz="1600" dirty="0"/>
          </a:p>
          <a:p>
            <a:pPr algn="ctr"/>
            <a:endParaRPr lang="it-IT" sz="160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before pulling/pushing the code.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Follow patterns.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to link components in the best way.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Write code having a global idea of the project.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BCF00A5A-B4E7-18F5-EF1D-CCA2A2478F20}"/>
              </a:ext>
            </a:extLst>
          </p:cNvPr>
          <p:cNvSpPr txBox="1">
            <a:spLocks/>
          </p:cNvSpPr>
          <p:nvPr/>
        </p:nvSpPr>
        <p:spPr>
          <a:xfrm>
            <a:off x="1730066" y="3171702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/>
              <a:t>More of </a:t>
            </a:r>
          </a:p>
          <a:p>
            <a:pPr algn="ctr"/>
            <a:r>
              <a:rPr lang="it-IT" sz="1600" dirty="0"/>
              <a:t>(more </a:t>
            </a:r>
            <a:r>
              <a:rPr lang="it-IT" sz="1600" dirty="0" err="1"/>
              <a:t>things</a:t>
            </a:r>
            <a:r>
              <a:rPr lang="it-IT" sz="1600" dirty="0"/>
              <a:t> to do)</a:t>
            </a:r>
          </a:p>
          <a:p>
            <a:pPr algn="ctr"/>
            <a:endParaRPr lang="en-US" sz="1050" b="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Increase the time spent cross-reviewing code before the pull request.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Define Test Cases for each User Story before starting development.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endParaRPr lang="en-US" sz="1050" b="0" dirty="0"/>
          </a:p>
          <a:p>
            <a:pPr algn="ctr"/>
            <a:endParaRPr lang="it-IT" sz="1050" dirty="0"/>
          </a:p>
        </p:txBody>
      </p:sp>
      <p:sp>
        <p:nvSpPr>
          <p:cNvPr id="3" name="Sottotitolo 8">
            <a:extLst>
              <a:ext uri="{FF2B5EF4-FFF2-40B4-BE49-F238E27FC236}">
                <a16:creationId xmlns:a16="http://schemas.microsoft.com/office/drawing/2014/main" id="{CC6A8B66-5BDE-48E9-C06F-90053CDF3A25}"/>
              </a:ext>
            </a:extLst>
          </p:cNvPr>
          <p:cNvSpPr txBox="1">
            <a:spLocks/>
          </p:cNvSpPr>
          <p:nvPr/>
        </p:nvSpPr>
        <p:spPr>
          <a:xfrm>
            <a:off x="5465244" y="3171702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Start </a:t>
            </a:r>
          </a:p>
          <a:p>
            <a:pPr algn="ctr"/>
            <a:r>
              <a:rPr lang="en-US" sz="1600" dirty="0"/>
              <a:t>(things to start doing)</a:t>
            </a:r>
          </a:p>
          <a:p>
            <a:pPr algn="ctr"/>
            <a:endParaRPr lang="en-US" sz="16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Add more detailed comments.</a:t>
            </a:r>
          </a:p>
        </p:txBody>
      </p:sp>
    </p:spTree>
    <p:extLst>
      <p:ext uri="{BB962C8B-B14F-4D97-AF65-F5344CB8AC3E}">
        <p14:creationId xmlns:p14="http://schemas.microsoft.com/office/powerpoint/2010/main" val="857685264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605</Words>
  <Application>Microsoft Office PowerPoint</Application>
  <PresentationFormat>Presentazione su schermo (16:9)</PresentationFormat>
  <Paragraphs>79</Paragraphs>
  <Slides>9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5" baseType="lpstr">
      <vt:lpstr>Outfit</vt:lpstr>
      <vt:lpstr>Barlow</vt:lpstr>
      <vt:lpstr>Calibri</vt:lpstr>
      <vt:lpstr>Arial</vt:lpstr>
      <vt:lpstr>Raleway</vt:lpstr>
      <vt:lpstr>Automotive Industry Agency by Slidesgo</vt:lpstr>
      <vt:lpstr>Second Sprint  presentation Group n. 04 </vt:lpstr>
      <vt:lpstr>Sprint backlog</vt:lpstr>
      <vt:lpstr>Activation/deactivation</vt:lpstr>
      <vt:lpstr>Repetition</vt:lpstr>
      <vt:lpstr>Saving Rule </vt:lpstr>
      <vt:lpstr>Notification Action</vt:lpstr>
      <vt:lpstr>Burndown Chart</vt:lpstr>
      <vt:lpstr>Sprint review report</vt:lpstr>
      <vt:lpstr>First sprint retrospective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ANTONIO PEPE</cp:lastModifiedBy>
  <cp:revision>30</cp:revision>
  <dcterms:modified xsi:type="dcterms:W3CDTF">2025-12-14T14:09:52Z</dcterms:modified>
</cp:coreProperties>
</file>