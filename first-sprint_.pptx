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96" r:id="rId3"/>
    <p:sldId id="297" r:id="rId4"/>
    <p:sldId id="269" r:id="rId5"/>
    <p:sldId id="298" r:id="rId6"/>
    <p:sldId id="299" r:id="rId7"/>
  </p:sldIdLst>
  <p:sldSz cx="9144000" cy="5143500" type="screen16x9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Outfit" panose="020B0604020202020204" charset="0"/>
      <p:regular r:id="rId13"/>
      <p:bold r:id="rId14"/>
    </p:embeddedFont>
    <p:embeddedFont>
      <p:font typeface="Raleway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AB561-08F5-4D16-9630-0750F2F6AF40}">
  <a:tblStyle styleId="{06EAB561-08F5-4D16-9630-0750F2F6A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A14C27-C682-40E8-895F-49E0BDBB13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61279" y="-3665634"/>
            <a:ext cx="12368023" cy="9056236"/>
            <a:chOff x="-1961279" y="-3665634"/>
            <a:chExt cx="12368023" cy="9056236"/>
          </a:xfrm>
        </p:grpSpPr>
        <p:sp>
          <p:nvSpPr>
            <p:cNvPr id="10" name="Google Shape;10;p2"/>
            <p:cNvSpPr/>
            <p:nvPr/>
          </p:nvSpPr>
          <p:spPr>
            <a:xfrm>
              <a:off x="7865187" y="3256327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132792" y="1106388"/>
              <a:ext cx="3027155" cy="428421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066218" y="1028066"/>
              <a:ext cx="3031071" cy="4299878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>
              <a:off x="-1350581" y="1955801"/>
              <a:ext cx="1683928" cy="2349660"/>
              <a:chOff x="-1107581" y="1955801"/>
              <a:chExt cx="1683928" cy="23496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8798" y="-3665634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1350568" y="-1025151"/>
            <a:ext cx="12446464" cy="6788166"/>
            <a:chOff x="-1350568" y="-1025151"/>
            <a:chExt cx="12446464" cy="6788166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-1350568" y="4145665"/>
              <a:ext cx="4429121" cy="1617349"/>
              <a:chOff x="9431732" y="3526140"/>
              <a:chExt cx="4429121" cy="1617349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1179442" y="-1025151"/>
              <a:ext cx="2901838" cy="1613433"/>
              <a:chOff x="11828392" y="-448701"/>
              <a:chExt cx="2901838" cy="1613433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186226" y="3667518"/>
              <a:ext cx="2909670" cy="1609517"/>
              <a:chOff x="16053876" y="2645018"/>
              <a:chExt cx="2909670" cy="1609517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715165" y="1483025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715100" y="3170300"/>
            <a:ext cx="4921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"/>
          <p:cNvSpPr>
            <a:spLocks noGrp="1"/>
          </p:cNvSpPr>
          <p:nvPr>
            <p:ph type="pic" idx="2"/>
          </p:nvPr>
        </p:nvSpPr>
        <p:spPr>
          <a:xfrm>
            <a:off x="5830687" y="528651"/>
            <a:ext cx="3064200" cy="4080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6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309" name="Google Shape;309;p6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6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8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02" name="Google Shape;402;p8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9" name="Google Shape;459;p8"/>
          <p:cNvGrpSpPr/>
          <p:nvPr/>
        </p:nvGrpSpPr>
        <p:grpSpPr>
          <a:xfrm>
            <a:off x="-1822531" y="-284152"/>
            <a:ext cx="12743129" cy="5333629"/>
            <a:chOff x="-1822531" y="-284152"/>
            <a:chExt cx="12743129" cy="5333629"/>
          </a:xfrm>
        </p:grpSpPr>
        <p:sp>
          <p:nvSpPr>
            <p:cNvPr id="460" name="Google Shape;460;p8"/>
            <p:cNvSpPr/>
            <p:nvPr/>
          </p:nvSpPr>
          <p:spPr>
            <a:xfrm>
              <a:off x="8607494" y="-284152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1822529" y="-13175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8607730" y="351738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479769" y="146147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8428898" y="14016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1822531" y="93492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9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69" name="Google Shape;469;p9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9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9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9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9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9"/>
          <p:cNvGrpSpPr/>
          <p:nvPr/>
        </p:nvGrpSpPr>
        <p:grpSpPr>
          <a:xfrm rot="10800000">
            <a:off x="-1845654" y="-2850054"/>
            <a:ext cx="12179898" cy="10865307"/>
            <a:chOff x="-1961279" y="-2850054"/>
            <a:chExt cx="12179898" cy="10865307"/>
          </a:xfrm>
        </p:grpSpPr>
        <p:sp>
          <p:nvSpPr>
            <p:cNvPr id="528" name="Google Shape;528;p9"/>
            <p:cNvSpPr/>
            <p:nvPr/>
          </p:nvSpPr>
          <p:spPr>
            <a:xfrm>
              <a:off x="7677062" y="150435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9"/>
            <p:cNvGrpSpPr/>
            <p:nvPr/>
          </p:nvGrpSpPr>
          <p:grpSpPr>
            <a:xfrm>
              <a:off x="5815905" y="-1398759"/>
              <a:ext cx="3093729" cy="4362535"/>
              <a:chOff x="5815905" y="-1398759"/>
              <a:chExt cx="3093729" cy="4362535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5882479" y="-13204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5815905" y="-13987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9"/>
            <p:cNvSpPr/>
            <p:nvPr/>
          </p:nvSpPr>
          <p:spPr>
            <a:xfrm>
              <a:off x="5830673" y="2144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13"/>
          <p:cNvGrpSpPr/>
          <p:nvPr/>
        </p:nvGrpSpPr>
        <p:grpSpPr>
          <a:xfrm>
            <a:off x="-1817629" y="-2162227"/>
            <a:ext cx="12738451" cy="5687513"/>
            <a:chOff x="-1817629" y="-2162227"/>
            <a:chExt cx="12738451" cy="5687513"/>
          </a:xfrm>
        </p:grpSpPr>
        <p:sp>
          <p:nvSpPr>
            <p:cNvPr id="612" name="Google Shape;612;p13"/>
            <p:cNvSpPr/>
            <p:nvPr/>
          </p:nvSpPr>
          <p:spPr>
            <a:xfrm>
              <a:off x="8607730" y="141743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479769" y="-49597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428898" y="-5558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8607719" y="-216222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6" name="Google Shape;616;p13"/>
            <p:cNvGrpSpPr/>
            <p:nvPr/>
          </p:nvGrpSpPr>
          <p:grpSpPr>
            <a:xfrm rot="10800000">
              <a:off x="-1206931" y="1175626"/>
              <a:ext cx="1683928" cy="2349660"/>
              <a:chOff x="-1107581" y="1955801"/>
              <a:chExt cx="1683928" cy="2349660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3"/>
            <p:cNvSpPr/>
            <p:nvPr/>
          </p:nvSpPr>
          <p:spPr>
            <a:xfrm>
              <a:off x="-1817629" y="-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-1350568" y="1798780"/>
            <a:ext cx="12241098" cy="4427059"/>
            <a:chOff x="-1350568" y="1798780"/>
            <a:chExt cx="12241098" cy="4427059"/>
          </a:xfrm>
        </p:grpSpPr>
        <p:grpSp>
          <p:nvGrpSpPr>
            <p:cNvPr id="621" name="Google Shape;621;p13"/>
            <p:cNvGrpSpPr/>
            <p:nvPr/>
          </p:nvGrpSpPr>
          <p:grpSpPr>
            <a:xfrm>
              <a:off x="8667251" y="1798780"/>
              <a:ext cx="2223279" cy="1229832"/>
              <a:chOff x="16053876" y="2645018"/>
              <a:chExt cx="2909670" cy="1609517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-1350568" y="4608490"/>
              <a:ext cx="4429121" cy="1617349"/>
              <a:chOff x="9431732" y="3526140"/>
              <a:chExt cx="4429121" cy="1617349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963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963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title" idx="4" hasCustomPrompt="1"/>
          </p:nvPr>
        </p:nvSpPr>
        <p:spPr>
          <a:xfrm>
            <a:off x="3684819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3" name="Google Shape;683;p13"/>
          <p:cNvSpPr txBox="1">
            <a:spLocks noGrp="1"/>
          </p:cNvSpPr>
          <p:nvPr>
            <p:ph type="title" idx="5" hasCustomPrompt="1"/>
          </p:nvPr>
        </p:nvSpPr>
        <p:spPr>
          <a:xfrm>
            <a:off x="3684819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>
            <a:spLocks noGrp="1"/>
          </p:cNvSpPr>
          <p:nvPr>
            <p:ph type="title" idx="6" hasCustomPrompt="1"/>
          </p:nvPr>
        </p:nvSpPr>
        <p:spPr>
          <a:xfrm>
            <a:off x="6296146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5" name="Google Shape;685;p13"/>
          <p:cNvSpPr txBox="1">
            <a:spLocks noGrp="1"/>
          </p:cNvSpPr>
          <p:nvPr>
            <p:ph type="title" idx="7" hasCustomPrompt="1"/>
          </p:nvPr>
        </p:nvSpPr>
        <p:spPr>
          <a:xfrm>
            <a:off x="6296146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6" name="Google Shape;686;p13"/>
          <p:cNvSpPr txBox="1">
            <a:spLocks noGrp="1"/>
          </p:cNvSpPr>
          <p:nvPr>
            <p:ph type="subTitle" idx="1"/>
          </p:nvPr>
        </p:nvSpPr>
        <p:spPr>
          <a:xfrm>
            <a:off x="993213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subTitle" idx="8"/>
          </p:nvPr>
        </p:nvSpPr>
        <p:spPr>
          <a:xfrm>
            <a:off x="3590069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8" name="Google Shape;688;p13"/>
          <p:cNvSpPr txBox="1">
            <a:spLocks noGrp="1"/>
          </p:cNvSpPr>
          <p:nvPr>
            <p:ph type="subTitle" idx="9"/>
          </p:nvPr>
        </p:nvSpPr>
        <p:spPr>
          <a:xfrm>
            <a:off x="6201396" y="209876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9" name="Google Shape;689;p13"/>
          <p:cNvSpPr txBox="1">
            <a:spLocks noGrp="1"/>
          </p:cNvSpPr>
          <p:nvPr>
            <p:ph type="subTitle" idx="13"/>
          </p:nvPr>
        </p:nvSpPr>
        <p:spPr>
          <a:xfrm>
            <a:off x="993213" y="353224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0" name="Google Shape;690;p13"/>
          <p:cNvSpPr txBox="1">
            <a:spLocks noGrp="1"/>
          </p:cNvSpPr>
          <p:nvPr>
            <p:ph type="subTitle" idx="14"/>
          </p:nvPr>
        </p:nvSpPr>
        <p:spPr>
          <a:xfrm>
            <a:off x="3590069" y="3532248"/>
            <a:ext cx="1946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1" name="Google Shape;691;p13"/>
          <p:cNvSpPr txBox="1">
            <a:spLocks noGrp="1"/>
          </p:cNvSpPr>
          <p:nvPr>
            <p:ph type="subTitle" idx="15"/>
          </p:nvPr>
        </p:nvSpPr>
        <p:spPr>
          <a:xfrm>
            <a:off x="6201396" y="353224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22"/>
          <p:cNvGrpSpPr/>
          <p:nvPr/>
        </p:nvGrpSpPr>
        <p:grpSpPr>
          <a:xfrm>
            <a:off x="-1696452" y="-2157534"/>
            <a:ext cx="12663109" cy="9410787"/>
            <a:chOff x="-1696452" y="-2157534"/>
            <a:chExt cx="12663109" cy="9410787"/>
          </a:xfrm>
        </p:grpSpPr>
        <p:sp>
          <p:nvSpPr>
            <p:cNvPr id="1190" name="Google Shape;1190;p22"/>
            <p:cNvSpPr/>
            <p:nvPr/>
          </p:nvSpPr>
          <p:spPr>
            <a:xfrm>
              <a:off x="-1088313" y="169540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1" name="Google Shape;1191;p22"/>
            <p:cNvGrpSpPr/>
            <p:nvPr/>
          </p:nvGrpSpPr>
          <p:grpSpPr>
            <a:xfrm>
              <a:off x="-649032" y="-2157534"/>
              <a:ext cx="3093729" cy="4362535"/>
              <a:chOff x="-649032" y="-2157534"/>
              <a:chExt cx="3093729" cy="4362535"/>
            </a:xfrm>
          </p:grpSpPr>
          <p:sp>
            <p:nvSpPr>
              <p:cNvPr id="1192" name="Google Shape;1192;p22"/>
              <p:cNvSpPr/>
              <p:nvPr/>
            </p:nvSpPr>
            <p:spPr>
              <a:xfrm>
                <a:off x="-582458" y="-2079212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-649032" y="-2157534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22"/>
            <p:cNvSpPr/>
            <p:nvPr/>
          </p:nvSpPr>
          <p:spPr>
            <a:xfrm>
              <a:off x="-1696452" y="1382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8119046" y="266612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7939503" y="230721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7" name="Google Shape;1197;p22"/>
            <p:cNvGrpSpPr/>
            <p:nvPr/>
          </p:nvGrpSpPr>
          <p:grpSpPr>
            <a:xfrm>
              <a:off x="8164894" y="-207299"/>
              <a:ext cx="1683928" cy="2349660"/>
              <a:chOff x="-1107581" y="1955801"/>
              <a:chExt cx="1683928" cy="2349660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22"/>
          <p:cNvGrpSpPr/>
          <p:nvPr/>
        </p:nvGrpSpPr>
        <p:grpSpPr>
          <a:xfrm>
            <a:off x="1048105" y="-1082360"/>
            <a:ext cx="8221699" cy="7304442"/>
            <a:chOff x="1048105" y="-1082360"/>
            <a:chExt cx="8221699" cy="7304442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4840682" y="-1082360"/>
              <a:ext cx="4429121" cy="1617349"/>
              <a:chOff x="9431732" y="3526140"/>
              <a:chExt cx="4429121" cy="1617349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22"/>
            <p:cNvGrpSpPr/>
            <p:nvPr/>
          </p:nvGrpSpPr>
          <p:grpSpPr>
            <a:xfrm>
              <a:off x="1048105" y="4608649"/>
              <a:ext cx="2901838" cy="1613433"/>
              <a:chOff x="11828392" y="-448701"/>
              <a:chExt cx="2901838" cy="1613433"/>
            </a:xfrm>
          </p:grpSpPr>
          <p:sp>
            <p:nvSpPr>
              <p:cNvPr id="1247" name="Google Shape;1247;p2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23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1261" name="Google Shape;1261;p23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3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1274" name="Google Shape;1274;p23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1275" name="Google Shape;1275;p23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23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9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7"/>
          <p:cNvSpPr txBox="1">
            <a:spLocks noGrp="1"/>
          </p:cNvSpPr>
          <p:nvPr>
            <p:ph type="ctrTitle"/>
          </p:nvPr>
        </p:nvSpPr>
        <p:spPr>
          <a:xfrm>
            <a:off x="715100" y="1483087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/>
              <a:t>First Sprint  </a:t>
            </a:r>
            <a:r>
              <a:rPr lang="it-IT" sz="3600" dirty="0" err="1"/>
              <a:t>presentation</a:t>
            </a:r>
            <a:br>
              <a:rPr lang="it-IT" sz="3600" dirty="0"/>
            </a:br>
            <a:r>
              <a:rPr lang="it-IT" sz="3600" dirty="0"/>
              <a:t>Group n. 04</a:t>
            </a:r>
            <a:br>
              <a:rPr lang="it-IT" sz="3600" dirty="0"/>
            </a:br>
            <a:endParaRPr sz="3600" dirty="0"/>
          </a:p>
        </p:txBody>
      </p:sp>
      <p:grpSp>
        <p:nvGrpSpPr>
          <p:cNvPr id="1292" name="Google Shape;1292;p27"/>
          <p:cNvGrpSpPr/>
          <p:nvPr/>
        </p:nvGrpSpPr>
        <p:grpSpPr>
          <a:xfrm>
            <a:off x="832425" y="3579813"/>
            <a:ext cx="4500600" cy="74450"/>
            <a:chOff x="832425" y="3620150"/>
            <a:chExt cx="4500600" cy="74450"/>
          </a:xfrm>
        </p:grpSpPr>
        <p:cxnSp>
          <p:nvCxnSpPr>
            <p:cNvPr id="1293" name="Google Shape;1293;p27"/>
            <p:cNvCxnSpPr/>
            <p:nvPr/>
          </p:nvCxnSpPr>
          <p:spPr>
            <a:xfrm>
              <a:off x="832425" y="362015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27"/>
            <p:cNvCxnSpPr/>
            <p:nvPr/>
          </p:nvCxnSpPr>
          <p:spPr>
            <a:xfrm>
              <a:off x="832425" y="369460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F07EB-CD19-6B0F-932E-47CC6869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1° Sprint release</a:t>
            </a:r>
          </a:p>
        </p:txBody>
      </p:sp>
      <p:pic>
        <p:nvPicPr>
          <p:cNvPr id="4" name="Immagine 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28EECE4-D8F7-EFB1-6147-DC3012ED2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60" y="1445211"/>
            <a:ext cx="2351729" cy="2458761"/>
          </a:xfrm>
          <a:prstGeom prst="rect">
            <a:avLst/>
          </a:prstGeom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75714DA-9686-C6DB-03CA-FFF31985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540" y="1425694"/>
            <a:ext cx="2350040" cy="2478278"/>
          </a:xfrm>
          <a:prstGeom prst="rect">
            <a:avLst/>
          </a:prstGeom>
          <a:solidFill>
            <a:schemeClr val="dk2"/>
          </a:solidFill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8" name="Immagine 7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C2A5E887-8211-C198-9D79-FFFE58E4A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496" y="1425694"/>
            <a:ext cx="1628626" cy="928683"/>
          </a:xfrm>
          <a:prstGeom prst="rect">
            <a:avLst/>
          </a:prstGeom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10" name="Immagine 9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D412BA4C-A252-EA88-50B0-EADB86F9F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636" y="2440856"/>
            <a:ext cx="1610326" cy="928682"/>
          </a:xfrm>
          <a:prstGeom prst="rect">
            <a:avLst/>
          </a:prstGeom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12" name="Immagine 11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3A0F9AF4-9019-C367-C0D5-06383025B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496" y="3456017"/>
            <a:ext cx="1628626" cy="928681"/>
          </a:xfrm>
          <a:prstGeom prst="rect">
            <a:avLst/>
          </a:prstGeom>
          <a:ln>
            <a:solidFill>
              <a:schemeClr val="accent1">
                <a:alpha val="98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98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4B314-1FD4-B227-DBD7-F3FDE97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Sprint backlog</a:t>
            </a:r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E0696693-9CC8-89CD-DCFB-04B316D7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342" y="1165885"/>
            <a:ext cx="7041315" cy="425683"/>
          </a:xfrm>
        </p:spPr>
        <p:txBody>
          <a:bodyPr/>
          <a:lstStyle/>
          <a:p>
            <a:pPr algn="ctr"/>
            <a:r>
              <a:rPr lang="en-US" sz="1400" dirty="0"/>
              <a:t>User stories selected (SP = 30min)</a:t>
            </a:r>
            <a:endParaRPr lang="it-IT" sz="1400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09A0AAC2-6A51-CE05-9E60-8B68699876D4}"/>
              </a:ext>
            </a:extLst>
          </p:cNvPr>
          <p:cNvSpPr txBox="1">
            <a:spLocks/>
          </p:cNvSpPr>
          <p:nvPr/>
        </p:nvSpPr>
        <p:spPr>
          <a:xfrm>
            <a:off x="48768" y="1687856"/>
            <a:ext cx="2607057" cy="233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6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to have a button called “</a:t>
            </a:r>
            <a:r>
              <a:rPr lang="en-US" sz="1050" b="0" dirty="0" err="1"/>
              <a:t>NewRule</a:t>
            </a:r>
            <a:r>
              <a:rPr lang="en-US" sz="1050" b="0" dirty="0"/>
              <a:t>” that allows me to open a new page to create a New Rule when I click it (2 SP)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a list of rules that shows me all rules </a:t>
            </a:r>
            <a:r>
              <a:rPr lang="en-US" sz="1050" b="0" dirty="0" err="1"/>
              <a:t>i</a:t>
            </a:r>
            <a:r>
              <a:rPr lang="en-US" sz="1050" b="0" dirty="0"/>
              <a:t> have created (2 SP)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to have a button with a symbol of a bin that allows me to delete the Rule. (1 SP)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be able to give a name to the Rule when </a:t>
            </a:r>
            <a:r>
              <a:rPr lang="en-US" sz="1050" b="0" dirty="0" err="1"/>
              <a:t>i</a:t>
            </a:r>
            <a:r>
              <a:rPr lang="en-US" sz="1050" b="0" dirty="0"/>
              <a:t> create it (1 SP)</a:t>
            </a:r>
            <a:br>
              <a:rPr lang="en-US" sz="1050" b="0" dirty="0"/>
            </a:br>
            <a:endParaRPr lang="en-US" sz="105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CC5DE330-3A6A-6CB7-A378-3A83BBCB6B1E}"/>
              </a:ext>
            </a:extLst>
          </p:cNvPr>
          <p:cNvSpPr txBox="1">
            <a:spLocks/>
          </p:cNvSpPr>
          <p:nvPr/>
        </p:nvSpPr>
        <p:spPr>
          <a:xfrm>
            <a:off x="2563368" y="1687856"/>
            <a:ext cx="1926118" cy="180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to be able to select a </a:t>
            </a:r>
            <a:r>
              <a:rPr lang="en-US" sz="1050" b="0" dirty="0" err="1"/>
              <a:t>TimeTrigger</a:t>
            </a:r>
            <a:r>
              <a:rPr lang="en-US" sz="1050" b="0" dirty="0"/>
              <a:t> from a list of triggers to fire an Action at an established time (4 SP)</a:t>
            </a:r>
            <a:endParaRPr lang="it-IT" sz="105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3255EFFC-5B5B-3A25-13E2-581741C12F2E}"/>
              </a:ext>
            </a:extLst>
          </p:cNvPr>
          <p:cNvSpPr txBox="1">
            <a:spLocks/>
          </p:cNvSpPr>
          <p:nvPr/>
        </p:nvSpPr>
        <p:spPr>
          <a:xfrm>
            <a:off x="4489486" y="1732369"/>
            <a:ext cx="2039330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be able to select an action that allows me to play an audio from a list of action when the rule is triggered (3 SP)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have a button to </a:t>
            </a:r>
            <a:r>
              <a:rPr lang="en-US" sz="1050" b="0" dirty="0" err="1"/>
              <a:t>stopthe</a:t>
            </a:r>
            <a:r>
              <a:rPr lang="en-US" sz="1050" b="0" dirty="0"/>
              <a:t> audio (1 SP)</a:t>
            </a:r>
            <a:endParaRPr lang="it-IT" sz="14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D6A5CEEE-9078-52E7-2660-9FA3747080AE}"/>
              </a:ext>
            </a:extLst>
          </p:cNvPr>
          <p:cNvSpPr txBox="1">
            <a:spLocks/>
          </p:cNvSpPr>
          <p:nvPr/>
        </p:nvSpPr>
        <p:spPr>
          <a:xfrm>
            <a:off x="6528816" y="1828655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be able to select an action to show a notification from a list of action when the rule is triggered (3 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use a button to close the notification (1 SP) </a:t>
            </a:r>
          </a:p>
          <a:p>
            <a:pPr algn="ctr"/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225781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Burndown</a:t>
            </a:r>
            <a:r>
              <a:rPr lang="it-IT" dirty="0"/>
              <a:t> Chart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0E3F18-4785-CD81-48BD-975A6D608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61" y="1454054"/>
            <a:ext cx="5166678" cy="311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83C5-A791-87D9-B36F-EC81F92D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30;p40">
            <a:extLst>
              <a:ext uri="{FF2B5EF4-FFF2-40B4-BE49-F238E27FC236}">
                <a16:creationId xmlns:a16="http://schemas.microsoft.com/office/drawing/2014/main" id="{347E9AB8-E51B-35EB-8B63-36805386E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Sprint review report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E29B52-CD6B-8F75-2B84-B6B05C1EE209}"/>
              </a:ext>
            </a:extLst>
          </p:cNvPr>
          <p:cNvSpPr txBox="1"/>
          <p:nvPr/>
        </p:nvSpPr>
        <p:spPr>
          <a:xfrm>
            <a:off x="2059260" y="1747208"/>
            <a:ext cx="5025480" cy="1368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ts val="2700"/>
              </a:lnSpc>
              <a:buNone/>
            </a:pPr>
            <a:r>
              <a:rPr lang="en-US" dirty="0"/>
              <a:t>All completed successfully except the notification actions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Any user stories rejected by the Product Owner: None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Project Velocity measured: 18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Project Velocity respected: 14</a:t>
            </a:r>
          </a:p>
        </p:txBody>
      </p:sp>
    </p:spTree>
    <p:extLst>
      <p:ext uri="{BB962C8B-B14F-4D97-AF65-F5344CB8AC3E}">
        <p14:creationId xmlns:p14="http://schemas.microsoft.com/office/powerpoint/2010/main" val="262333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7510-6F00-1CD7-889B-5CEFBCC6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4F9D9E-98F4-2600-F989-C658AA9A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First sprint </a:t>
            </a:r>
            <a:r>
              <a:rPr lang="it-IT" dirty="0" err="1"/>
              <a:t>retrospective</a:t>
            </a:r>
            <a:endParaRPr lang="it-IT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36DC74AF-22F8-F194-2C9B-6EDC950C13CD}"/>
              </a:ext>
            </a:extLst>
          </p:cNvPr>
          <p:cNvSpPr txBox="1">
            <a:spLocks/>
          </p:cNvSpPr>
          <p:nvPr/>
        </p:nvSpPr>
        <p:spPr>
          <a:xfrm>
            <a:off x="216408" y="1683624"/>
            <a:ext cx="2607057" cy="129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Stop (things to stop doing)</a:t>
            </a:r>
            <a:endParaRPr lang="it-IT" sz="12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Define non-atomic tasks</a:t>
            </a:r>
            <a:br>
              <a:rPr lang="en-US" sz="1050" b="0" dirty="0"/>
            </a:br>
            <a:endParaRPr lang="en-US" sz="105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7FF093D1-0779-671C-C9F0-E52A5EEFA2C8}"/>
              </a:ext>
            </a:extLst>
          </p:cNvPr>
          <p:cNvSpPr txBox="1">
            <a:spLocks/>
          </p:cNvSpPr>
          <p:nvPr/>
        </p:nvSpPr>
        <p:spPr>
          <a:xfrm>
            <a:off x="3810653" y="1667563"/>
            <a:ext cx="1926118" cy="131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Less</a:t>
            </a:r>
            <a:r>
              <a:rPr lang="it-IT" sz="1600" dirty="0"/>
              <a:t> of</a:t>
            </a:r>
          </a:p>
          <a:p>
            <a:pPr algn="ctr"/>
            <a:endParaRPr lang="it-IT" sz="16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Write code without having a global idea of what we are going to do.</a:t>
            </a:r>
            <a:endParaRPr lang="it-IT" sz="1050" b="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C7394569-8867-C993-2F08-C1F06E3D7306}"/>
              </a:ext>
            </a:extLst>
          </p:cNvPr>
          <p:cNvSpPr txBox="1">
            <a:spLocks/>
          </p:cNvSpPr>
          <p:nvPr/>
        </p:nvSpPr>
        <p:spPr>
          <a:xfrm>
            <a:off x="6488177" y="1683624"/>
            <a:ext cx="2039330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Keep</a:t>
            </a:r>
            <a:r>
              <a:rPr lang="it-IT" sz="1600" dirty="0"/>
              <a:t> </a:t>
            </a:r>
            <a:r>
              <a:rPr lang="it-IT" sz="1600" dirty="0" err="1"/>
              <a:t>doing</a:t>
            </a:r>
            <a:endParaRPr lang="it-IT" sz="1600" dirty="0"/>
          </a:p>
          <a:p>
            <a:pPr algn="ctr"/>
            <a:endParaRPr lang="it-IT" sz="160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before pulling/pushing the code.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Follow patterns.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to link components in the best way.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BCF00A5A-B4E7-18F5-EF1D-CCA2A2478F20}"/>
              </a:ext>
            </a:extLst>
          </p:cNvPr>
          <p:cNvSpPr txBox="1">
            <a:spLocks/>
          </p:cNvSpPr>
          <p:nvPr/>
        </p:nvSpPr>
        <p:spPr>
          <a:xfrm>
            <a:off x="1707206" y="3355473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/>
              <a:t>More of (more </a:t>
            </a:r>
            <a:r>
              <a:rPr lang="it-IT" sz="1600" dirty="0" err="1"/>
              <a:t>things</a:t>
            </a:r>
            <a:r>
              <a:rPr lang="it-IT" sz="1600" dirty="0"/>
              <a:t> to do)</a:t>
            </a:r>
            <a:endParaRPr lang="en-US" sz="1050" b="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Increase the time spent cross-reviewing code before the pull request.</a:t>
            </a:r>
          </a:p>
          <a:p>
            <a:pPr algn="ctr"/>
            <a:endParaRPr lang="it-IT" sz="1050" dirty="0"/>
          </a:p>
        </p:txBody>
      </p:sp>
      <p:sp>
        <p:nvSpPr>
          <p:cNvPr id="3" name="Sottotitolo 8">
            <a:extLst>
              <a:ext uri="{FF2B5EF4-FFF2-40B4-BE49-F238E27FC236}">
                <a16:creationId xmlns:a16="http://schemas.microsoft.com/office/drawing/2014/main" id="{CC6A8B66-5BDE-48E9-C06F-90053CDF3A25}"/>
              </a:ext>
            </a:extLst>
          </p:cNvPr>
          <p:cNvSpPr txBox="1">
            <a:spLocks/>
          </p:cNvSpPr>
          <p:nvPr/>
        </p:nvSpPr>
        <p:spPr>
          <a:xfrm>
            <a:off x="5396664" y="3355472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Start (things to start doing)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Start defining Test Cases for each User Story before starting development.</a:t>
            </a:r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7685264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Agency by Slidesgo">
  <a:themeElements>
    <a:clrScheme name="Simple Light">
      <a:dk1>
        <a:srgbClr val="191919"/>
      </a:dk1>
      <a:lt1>
        <a:srgbClr val="595959"/>
      </a:lt1>
      <a:dk2>
        <a:srgbClr val="EEEEEE"/>
      </a:dk2>
      <a:lt2>
        <a:srgbClr val="17499C"/>
      </a:lt2>
      <a:accent1>
        <a:srgbClr val="B2BC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389</Words>
  <Application>Microsoft Office PowerPoint</Application>
  <PresentationFormat>Presentazione su schermo (16:9)</PresentationFormat>
  <Paragraphs>43</Paragraphs>
  <Slides>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2" baseType="lpstr">
      <vt:lpstr>Barlow</vt:lpstr>
      <vt:lpstr>Calibri</vt:lpstr>
      <vt:lpstr>Raleway</vt:lpstr>
      <vt:lpstr>Arial</vt:lpstr>
      <vt:lpstr>Outfit</vt:lpstr>
      <vt:lpstr>Automotive Industry Agency by Slidesgo</vt:lpstr>
      <vt:lpstr>First Sprint  presentation Group n. 04 </vt:lpstr>
      <vt:lpstr>1° Sprint release</vt:lpstr>
      <vt:lpstr>Sprint backlog</vt:lpstr>
      <vt:lpstr>Burndown Chart</vt:lpstr>
      <vt:lpstr>Sprint review report</vt:lpstr>
      <vt:lpstr>First sprint retrospective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Agency</dc:title>
  <cp:lastModifiedBy>ANTONIO PEPE</cp:lastModifiedBy>
  <cp:revision>25</cp:revision>
  <dcterms:modified xsi:type="dcterms:W3CDTF">2025-12-10T10:48:57Z</dcterms:modified>
</cp:coreProperties>
</file>